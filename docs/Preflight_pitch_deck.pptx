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Default Extension="jpg" ContentType="image/jpeg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3" r:id="rId13"/>
    <p:sldId id="264" r:id="rId14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GoogleSansFlexMedium-regular.fntdata"/><Relationship Id="rId21" Type="http://schemas.openxmlformats.org/officeDocument/2006/relationships/slide" Target="slides/slide16.xml"/><Relationship Id="rId24" Type="http://schemas.openxmlformats.org/officeDocument/2006/relationships/font" Target="fonts/GoogleSansFlex-regular.fntdata"/><Relationship Id="rId23" Type="http://schemas.openxmlformats.org/officeDocument/2006/relationships/font" Target="fonts/GoogleSansFlexMedium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GoogleSansFlexSemiBold-regular.fntdata"/><Relationship Id="rId25" Type="http://schemas.openxmlformats.org/officeDocument/2006/relationships/font" Target="fonts/GoogleSansFlex-bold.fntdata"/><Relationship Id="rId27" Type="http://schemas.openxmlformats.org/officeDocument/2006/relationships/font" Target="fonts/GoogleSansFlexSemi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1.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2.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Known quote link (first quote), reproduced from README: https://www.trustpilot.com/reviews/6a9f952dc2a80e997c67354a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Known quote link (preview request), reproduced from README: https://community.adobe.com/questions-404/wasted-generative-credits-on-bad-results-1479378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Other quote source labels: Trustpilot, Sept 2026; Adobe Community, as supplied in v5. No missing individual quote URL was invented.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Dataset link, reproduced from README: https://huggingface.co/datasets/TIGER-Lab/GenAI-Bench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3 and 8.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Refund-policy link, reproduced from README: https://help.runwayml.com/hc/en-us/articles/34266159290003-Can-I-have-credits-refunded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Runway review counts, Adobe feature-request votes, buyer hypotheses and producer history are the supplied v5 facts; no separate URL for an unspecified review/feature-request page was invented.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4.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Cost source label: Google pricing page, as supplied in v5. No new price estimate or claim was introduced.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3 and 5.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Visual evidence: docs/deck_assets/spoon_original.jpg and spoon_rewritten.jpg. Byte-identical saved assets verified in reports/final_v6/track_b_saved_stills.json.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6.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Architecture facts: supplied v5 row 6; existing README Architecture and Google Cloud services sections.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6 and 7.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Service facts: supplied v5 rows 6 and 7; current samples wording is reproduced from README.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5.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Visual evidence: demo/frames/02_risk_and_score_details.png and 04_better_prompt_copied.png, plus frame-05 byte-matched saved still asset docs/deck_assets/spoon_original.jpg.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7.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All measured figures and claim limits are exactly the supplied v5 row 7. The deck build did not run a new evaluation.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Felix-supplied CODEX_ONESHOT_preflight_final_v5, Track B row(s) 9.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Content canon: docs/submission-notes.md links and the user-supplied pending-upload state.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Canonical local copy: reports/final_v6/CODEX_ONESHOT_preflight_final_v5.md. Wording shortened only within the authorized table facts.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Known links reproduced from docs/submission-notes.md: https://github.com/testofschool/preflight and https://preflight-jcgro45veq-as.a.run.app</a:t>
            </a:r>
          </a:p>
          <a:p>
            <a:pPr algn="l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Video URL has not been supplied. Pending public upload is displayed. The template-origin 3 Minutes label is a field label, not a measured-duration claim.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preflight_spoon_original.jpg"/><Relationship Id="rId6" Type="http://schemas.openxmlformats.org/officeDocument/2006/relationships/image" Target="../media/preflight_spoon_rewritten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preflight_02_risk_and_score_details.png"/><Relationship Id="rId6" Type="http://schemas.openxmlformats.org/officeDocument/2006/relationships/image" Target="../media/preflight_02_risk_and_score_details.png"/><Relationship Id="rId7" Type="http://schemas.openxmlformats.org/officeDocument/2006/relationships/image" Target="../media/preflight_04_better_prompt_copied.png"/><Relationship Id="rId8" Type="http://schemas.openxmlformats.org/officeDocument/2006/relationships/image" Target="../media/preflight_spoon_original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testofschool/preflight" TargetMode="External"/><Relationship Id="rId6" Type="http://schemas.openxmlformats.org/officeDocument/2006/relationships/hyperlink" Target="https://preflight-jcgro45veq-as.a.run.app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testofschool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Jung Min Kang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People who pay per generation for AI video only learn a clip is unusable after they have paid for it.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Preflight short description"/>
          <p:cNvSpPr txBox="1"/>
          <p:nvPr/>
        </p:nvSpPr>
        <p:spPr>
          <a:xfrm>
            <a:off x="329184" y="1188720"/>
            <a:ext cx="839419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8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Preflight: check an AI-video prompt before you pay</a:t>
            </a:r>
          </a:p>
        </p:txBody>
      </p:sp>
      <p:sp>
        <p:nvSpPr>
          <p:cNvPr id="73" name="User quote 1"/>
          <p:cNvSpPr txBox="1"/>
          <p:nvPr/>
        </p:nvSpPr>
        <p:spPr>
          <a:xfrm>
            <a:off x="420624" y="1746504"/>
            <a:ext cx="8275320" cy="35661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41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"you still burn credits on the failed attempt"</a:t>
            </a:r>
          </a:p>
        </p:txBody>
      </p:sp>
      <p:sp>
        <p:nvSpPr>
          <p:cNvPr id="74" name="Quote source 1"/>
          <p:cNvSpPr txBox="1"/>
          <p:nvPr/>
        </p:nvSpPr>
        <p:spPr>
          <a:xfrm>
            <a:off x="420624" y="2084832"/>
            <a:ext cx="8275320" cy="18288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88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Trustpilot, Runway review, Sept 2026</a:t>
            </a:r>
          </a:p>
        </p:txBody>
      </p:sp>
      <p:sp>
        <p:nvSpPr>
          <p:cNvPr id="75" name="User quote 2"/>
          <p:cNvSpPr txBox="1"/>
          <p:nvPr/>
        </p:nvSpPr>
        <p:spPr>
          <a:xfrm>
            <a:off x="420624" y="2350008"/>
            <a:ext cx="8275320" cy="35661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41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"Only one of the generations was usable for my purposes"</a:t>
            </a:r>
          </a:p>
        </p:txBody>
      </p:sp>
      <p:sp>
        <p:nvSpPr>
          <p:cNvPr id="76" name="Quote source 2"/>
          <p:cNvSpPr txBox="1"/>
          <p:nvPr/>
        </p:nvSpPr>
        <p:spPr>
          <a:xfrm>
            <a:off x="420624" y="2688336"/>
            <a:ext cx="8275320" cy="18288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88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Trustpilot, Sept 2026</a:t>
            </a:r>
          </a:p>
        </p:txBody>
      </p:sp>
      <p:sp>
        <p:nvSpPr>
          <p:cNvPr id="77" name="User quote 3"/>
          <p:cNvSpPr txBox="1"/>
          <p:nvPr/>
        </p:nvSpPr>
        <p:spPr>
          <a:xfrm>
            <a:off x="420624" y="2953512"/>
            <a:ext cx="8275320" cy="35661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41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"I'm tired of wasting valuable credits on bad footage, I simply can't use"</a:t>
            </a:r>
          </a:p>
        </p:txBody>
      </p:sp>
      <p:sp>
        <p:nvSpPr>
          <p:cNvPr id="78" name="Quote source 3"/>
          <p:cNvSpPr txBox="1"/>
          <p:nvPr/>
        </p:nvSpPr>
        <p:spPr>
          <a:xfrm>
            <a:off x="420624" y="3291840"/>
            <a:ext cx="8275320" cy="18288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88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Adobe Community</a:t>
            </a:r>
          </a:p>
        </p:txBody>
      </p:sp>
      <p:sp>
        <p:nvSpPr>
          <p:cNvPr id="79" name="User quote 4"/>
          <p:cNvSpPr txBox="1"/>
          <p:nvPr/>
        </p:nvSpPr>
        <p:spPr>
          <a:xfrm>
            <a:off x="420624" y="3557016"/>
            <a:ext cx="8275320" cy="35661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41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"I recommend a lo-res preview render before having to spend actual credits"</a:t>
            </a:r>
          </a:p>
        </p:txBody>
      </p:sp>
      <p:sp>
        <p:nvSpPr>
          <p:cNvPr id="80" name="Quote source 4"/>
          <p:cNvSpPr txBox="1"/>
          <p:nvPr/>
        </p:nvSpPr>
        <p:spPr>
          <a:xfrm>
            <a:off x="420624" y="3895344"/>
            <a:ext cx="8275320" cy="18288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88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Adobe Community</a:t>
            </a:r>
          </a:p>
        </p:txBody>
      </p:sp>
      <p:sp>
        <p:nvSpPr>
          <p:cNvPr id="81" name="Historical context"/>
          <p:cNvSpPr txBox="1"/>
          <p:nvPr/>
        </p:nvSpPr>
        <p:spPr>
          <a:xfrm>
            <a:off x="420624" y="4297680"/>
            <a:ext cx="827532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22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In a 2024 public benchmark (GenAI-Bench), 21% of 1,911 human pairwise votes rejected both videos.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he gap"/>
          <p:cNvSpPr txBox="1"/>
          <p:nvPr/>
        </p:nvSpPr>
        <p:spPr>
          <a:xfrm>
            <a:off x="393192" y="1252728"/>
            <a:ext cx="8321040" cy="54864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5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Refunds cover generation errors, not finished clips that are unusable.</a:t>
            </a:r>
            <a:br/>
            <a:r>
              <a:rPr lang="en-US" sz="15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Nothing sits before "pay".</a:t>
            </a:r>
          </a:p>
        </p:txBody>
      </p:sp>
      <p:sp>
        <p:nvSpPr>
          <p:cNvPr id="81" name="Business case content"/>
          <p:cNvSpPr txBox="1"/>
          <p:nvPr/>
        </p:nvSpPr>
        <p:spPr>
          <a:xfrm>
            <a:off x="393192" y="1984248"/>
            <a:ext cx="8321040" cy="260604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8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Who pays today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Per-generation buyers. Runway TrustScore 1.1/5 from 340 reviews (Sept 2026). Adobe feature request: "I lose too many credits doing trial and error" (219 votes).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8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Who would buy a pre-pay step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Studios and agencies running generation pipelines. Generator platforms as an embedded step.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Built by a Seoul producer who ran generative-video pipelines for 2.5 years. Tested by a teammate in India.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2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revenue or market-size figure is claimed.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Feature content"/>
          <p:cNvSpPr txBox="1"/>
          <p:nvPr/>
        </p:nvSpPr>
        <p:spPr>
          <a:xfrm>
            <a:off x="393192" y="1280160"/>
            <a:ext cx="8302752" cy="3456432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Preflight: three rungs before you pay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Risk check (free)</a:t>
            </a:r>
          </a:p>
          <a:p>
            <a:pPr algn="l" marL="0" indent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4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Failure-risk estimate from 1,911 human votes, with the nearest historical prompts as evidence.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rewrite</a:t>
            </a:r>
          </a:p>
          <a:p>
            <a:pPr algn="l" marL="0" indent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4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Kept only if the estimated risk drops.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still before a $3.20 Veo attempt</a:t>
            </a:r>
          </a:p>
          <a:p>
            <a:pPr algn="l" marL="0" indent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4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Veo 3.1, 8 s at $0.40/s (Google pricing page).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After generation: upload a clip for a Gemini second look. Its verdict is stored separately as feedback.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Generator loop"/>
          <p:cNvSpPr txBox="1"/>
          <p:nvPr/>
        </p:nvSpPr>
        <p:spPr>
          <a:xfrm>
            <a:off x="393192" y="1261872"/>
            <a:ext cx="8321040" cy="420624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55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Every generator's loop: prompt → pay → generate → judge → re-prompt.</a:t>
            </a:r>
          </a:p>
        </p:txBody>
      </p:sp>
      <p:sp>
        <p:nvSpPr>
          <p:cNvPr id="97" name="Preflight placement"/>
          <p:cNvSpPr txBox="1"/>
          <p:nvPr/>
        </p:nvSpPr>
        <p:spPr>
          <a:xfrm>
            <a:off x="393192" y="1810512"/>
            <a:ext cx="8321040" cy="530352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Preflight adds a risk check, a lower-risk rewrite and a still before "pay".</a:t>
            </a:r>
          </a:p>
        </p:txBody>
      </p:sp>
      <p:pic>
        <p:nvPicPr>
          <p:cNvPr id="98" name="Saved original spoon/laptop still" descr="docs/deck_assets/spoon_original.jpg"/>
          <p:cNvPicPr/>
          <p:nvPr/>
        </p:nvPicPr>
        <p:blipFill>
          <a:blip r:embed="rId5"/>
          <a:stretch>
            <a:fillRect/>
          </a:stretch>
        </p:blipFill>
        <p:spPr>
          <a:xfrm>
            <a:off x="429768" y="2468880"/>
            <a:ext cx="3822192" cy="2184109"/>
          </a:xfrm>
          <a:prstGeom prst="rect">
            <a:avLst/>
          </a:prstGeom>
        </p:spPr>
      </p:pic>
      <p:pic>
        <p:nvPicPr>
          <p:cNvPr id="99" name="Saved rewrite spoon/laptop still" descr="docs/deck_assets/spoon_rewritten.jpg"/>
          <p:cNvPicPr/>
          <p:nvPr/>
        </p:nvPicPr>
        <p:blipFill>
          <a:blip r:embed="rId6"/>
          <a:stretch>
            <a:fillRect/>
          </a:stretch>
        </p:blipFill>
        <p:spPr>
          <a:xfrm>
            <a:off x="4617720" y="2468880"/>
            <a:ext cx="3822192" cy="2184109"/>
          </a:xfrm>
          <a:prstGeom prst="rect">
            <a:avLst/>
          </a:prstGeom>
        </p:spPr>
      </p:pic>
      <p:sp>
        <p:nvSpPr>
          <p:cNvPr id="100" name="Original still caption"/>
          <p:cNvSpPr txBox="1"/>
          <p:nvPr/>
        </p:nvSpPr>
        <p:spPr>
          <a:xfrm>
            <a:off x="429768" y="4681728"/>
            <a:ext cx="3822192" cy="21945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Saved original still</a:t>
            </a:r>
          </a:p>
        </p:txBody>
      </p:sp>
      <p:sp>
        <p:nvSpPr>
          <p:cNvPr id="101" name="Rewrite still caption"/>
          <p:cNvSpPr txBox="1"/>
          <p:nvPr/>
        </p:nvSpPr>
        <p:spPr>
          <a:xfrm>
            <a:off x="4617720" y="4681728"/>
            <a:ext cx="3822192" cy="21945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Saved rewrite still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Architecture caption"/>
          <p:cNvSpPr txBox="1"/>
          <p:nvPr/>
        </p:nvSpPr>
        <p:spPr>
          <a:xfrm>
            <a:off x="393192" y="1234440"/>
            <a:ext cx="8339328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50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Browser request and Google Cloud services</a:t>
            </a:r>
          </a:p>
        </p:txBody>
      </p:sp>
      <p:sp>
        <p:nvSpPr>
          <p:cNvPr id="113" name="Architecture node 0"/>
          <p:cNvSpPr txBox="1"/>
          <p:nvPr/>
        </p:nvSpPr>
        <p:spPr>
          <a:xfrm>
            <a:off x="228600" y="1874520"/>
            <a:ext cx="914400" cy="129844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</a:ln>
        </p:spPr>
        <p:txBody>
          <a:bodyPr wrap="square" anchor="t" lIns="73152" rIns="73152" tIns="73152" bIns="73152">
            <a:noAutofit/>
          </a:bodyPr>
          <a:lstStyle/>
          <a:p>
            <a:pPr algn="ctr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Browser</a:t>
            </a:r>
          </a:p>
        </p:txBody>
      </p:sp>
      <p:sp>
        <p:nvSpPr>
          <p:cNvPr id="114" name="Architecture node 1"/>
          <p:cNvSpPr txBox="1"/>
          <p:nvPr/>
        </p:nvSpPr>
        <p:spPr>
          <a:xfrm>
            <a:off x="1417320" y="1874520"/>
            <a:ext cx="1508760" cy="129844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</a:ln>
        </p:spPr>
        <p:txBody>
          <a:bodyPr wrap="square" anchor="t" lIns="73152" rIns="73152" tIns="73152" bIns="73152">
            <a:noAutofit/>
          </a:bodyPr>
          <a:lstStyle/>
          <a:p>
            <a:pPr algn="ctr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asia-southeast1</a:t>
            </a:r>
          </a:p>
        </p:txBody>
      </p:sp>
      <p:sp>
        <p:nvSpPr>
          <p:cNvPr id="115" name="Architecture node 2"/>
          <p:cNvSpPr txBox="1"/>
          <p:nvPr/>
        </p:nvSpPr>
        <p:spPr>
          <a:xfrm>
            <a:off x="3246120" y="1874520"/>
            <a:ext cx="1691640" cy="129844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</a:ln>
        </p:spPr>
        <p:txBody>
          <a:bodyPr wrap="square" anchor="t" lIns="73152" rIns="73152" tIns="73152" bIns="73152">
            <a:noAutofit/>
          </a:bodyPr>
          <a:lstStyle/>
          <a:p>
            <a:pPr algn="ctr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Google ADK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rewrite agent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3.5 Flash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Vertex AI</a:t>
            </a:r>
          </a:p>
        </p:txBody>
      </p:sp>
      <p:sp>
        <p:nvSpPr>
          <p:cNvPr id="116" name="Architecture node 3"/>
          <p:cNvSpPr txBox="1"/>
          <p:nvPr/>
        </p:nvSpPr>
        <p:spPr>
          <a:xfrm>
            <a:off x="5257800" y="1874520"/>
            <a:ext cx="1508760" cy="129844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</a:ln>
        </p:spPr>
        <p:txBody>
          <a:bodyPr wrap="square" anchor="t" lIns="73152" rIns="73152" tIns="73152" bIns="73152">
            <a:noAutofit/>
          </a:bodyPr>
          <a:lstStyle/>
          <a:p>
            <a:pPr algn="ctr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Tools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Nearest prompts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IRT difficulty</a:t>
            </a:r>
          </a:p>
        </p:txBody>
      </p:sp>
      <p:sp>
        <p:nvSpPr>
          <p:cNvPr id="117" name="Architecture node 4"/>
          <p:cNvSpPr txBox="1"/>
          <p:nvPr/>
        </p:nvSpPr>
        <p:spPr>
          <a:xfrm>
            <a:off x="7086600" y="1874520"/>
            <a:ext cx="1810512" cy="1298448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</a:ln>
        </p:spPr>
        <p:txBody>
          <a:bodyPr wrap="square" anchor="t" lIns="73152" rIns="73152" tIns="73152" bIns="73152">
            <a:noAutofit/>
          </a:bodyPr>
          <a:lstStyle/>
          <a:p>
            <a:pPr algn="ctr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Firestore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1,911 votes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IRT parameters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Feedback</a:t>
            </a:r>
            <a:br/>
            <a:r>
              <a:rPr lang="en-US" sz="112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Saved stills</a:t>
            </a:r>
          </a:p>
        </p:txBody>
      </p:sp>
      <p:cxnSp>
        <p:nvCxnSpPr>
          <p:cNvPr id="118" name="Main flow arrow 0"/>
          <p:cNvCxnSpPr/>
          <p:nvPr/>
        </p:nvCxnSpPr>
        <p:spPr>
          <a:xfrm>
            <a:off x="1143000" y="2514600"/>
            <a:ext cx="242316" cy="0"/>
          </a:xfrm>
          <a:prstGeom prst="line">
            <a:avLst/>
          </a:prstGeom>
          <a:ln w="17000">
            <a:solidFill>
              <a:srgbClr val="5F6368"/>
            </a:solidFill>
            <a:tailEnd type="triangle"/>
          </a:ln>
        </p:spPr>
      </p:cxnSp>
      <p:cxnSp>
        <p:nvCxnSpPr>
          <p:cNvPr id="119" name="Main flow arrow 1"/>
          <p:cNvCxnSpPr/>
          <p:nvPr/>
        </p:nvCxnSpPr>
        <p:spPr>
          <a:xfrm>
            <a:off x="2926080" y="2514600"/>
            <a:ext cx="288036" cy="0"/>
          </a:xfrm>
          <a:prstGeom prst="line">
            <a:avLst/>
          </a:prstGeom>
          <a:ln w="17000">
            <a:solidFill>
              <a:srgbClr val="5F6368"/>
            </a:solidFill>
            <a:tailEnd type="triangle"/>
          </a:ln>
        </p:spPr>
      </p:cxnSp>
      <p:cxnSp>
        <p:nvCxnSpPr>
          <p:cNvPr id="120" name="Main flow arrow 2"/>
          <p:cNvCxnSpPr/>
          <p:nvPr/>
        </p:nvCxnSpPr>
        <p:spPr>
          <a:xfrm>
            <a:off x="4937760" y="2514600"/>
            <a:ext cx="288036" cy="0"/>
          </a:xfrm>
          <a:prstGeom prst="line">
            <a:avLst/>
          </a:prstGeom>
          <a:ln w="17000">
            <a:solidFill>
              <a:srgbClr val="5F6368"/>
            </a:solidFill>
            <a:tailEnd type="triangle"/>
          </a:ln>
        </p:spPr>
      </p:cxnSp>
      <p:cxnSp>
        <p:nvCxnSpPr>
          <p:cNvPr id="121" name="Main flow arrow 3"/>
          <p:cNvCxnSpPr/>
          <p:nvPr/>
        </p:nvCxnSpPr>
        <p:spPr>
          <a:xfrm>
            <a:off x="6766560" y="2514600"/>
            <a:ext cx="288036" cy="0"/>
          </a:xfrm>
          <a:prstGeom prst="line">
            <a:avLst/>
          </a:prstGeom>
          <a:ln w="17000">
            <a:solidFill>
              <a:srgbClr val="5F6368"/>
            </a:solidFill>
            <a:tailEnd type="triangle"/>
          </a:ln>
        </p:spPr>
      </p:cxnSp>
      <p:cxnSp>
        <p:nvCxnSpPr>
          <p:cNvPr id="122" name="Session branch"/>
          <p:cNvCxnSpPr/>
          <p:nvPr/>
        </p:nvCxnSpPr>
        <p:spPr>
          <a:xfrm>
            <a:off x="4091940" y="3172968"/>
            <a:ext cx="0" cy="301752"/>
          </a:xfrm>
          <a:prstGeom prst="line">
            <a:avLst/>
          </a:prstGeom>
          <a:ln w="17000">
            <a:solidFill>
              <a:srgbClr val="5F6368"/>
            </a:solidFill>
            <a:tailEnd type="triangle"/>
          </a:ln>
        </p:spPr>
      </p:cxnSp>
      <p:sp>
        <p:nvSpPr>
          <p:cNvPr id="123" name="Agent session service"/>
          <p:cNvSpPr txBox="1"/>
          <p:nvPr/>
        </p:nvSpPr>
        <p:spPr>
          <a:xfrm>
            <a:off x="3108960" y="3493008"/>
            <a:ext cx="1965960" cy="585216"/>
          </a:xfrm>
          <a:prstGeom prst="rect">
            <a:avLst/>
          </a:prstGeom>
          <a:solidFill>
            <a:srgbClr val="F8F9FA"/>
          </a:solidFill>
          <a:ln w="12700">
            <a:solidFill>
              <a:srgbClr val="BDC1C6"/>
            </a:solidFill>
          </a:ln>
        </p:spPr>
        <p:txBody>
          <a:bodyPr wrap="square" anchor="t" lIns="27432" rIns="27432" tIns="27432" bIns="27432">
            <a:noAutofit/>
          </a:bodyPr>
          <a:lstStyle/>
          <a:p>
            <a:pPr algn="ctr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2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Agent Platform</a:t>
            </a:r>
            <a:br/>
            <a:r>
              <a:rPr lang="en-US" sz="12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Sessions</a:t>
            </a:r>
          </a:p>
        </p:txBody>
      </p:sp>
      <p:sp>
        <p:nvSpPr>
          <p:cNvPr id="124" name="Clip review branch"/>
          <p:cNvSpPr txBox="1"/>
          <p:nvPr/>
        </p:nvSpPr>
        <p:spPr>
          <a:xfrm>
            <a:off x="393192" y="4206240"/>
            <a:ext cx="832104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3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Clip review: Gemini video understanding</a:t>
            </a:r>
          </a:p>
        </p:txBody>
      </p:sp>
      <p:sp>
        <p:nvSpPr>
          <p:cNvPr id="125" name="Image preview branch"/>
          <p:cNvSpPr txBox="1"/>
          <p:nvPr/>
        </p:nvSpPr>
        <p:spPr>
          <a:xfrm>
            <a:off x="393192" y="4526280"/>
            <a:ext cx="832104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3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Still preview: Gemini image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chnology roles"/>
          <p:cNvSpPr txBox="1"/>
          <p:nvPr/>
        </p:nvSpPr>
        <p:spPr>
          <a:xfrm>
            <a:off x="393192" y="1280160"/>
            <a:ext cx="8339328" cy="3584448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 (FastAPI, asia-southeast1)</a:t>
            </a:r>
          </a:p>
          <a:p>
            <a:pPr algn="l" marL="0" indent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Hosts the browser request workflow.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Google ADK + Gemini 3.5 Flash on Vertex AI</a:t>
            </a:r>
          </a:p>
          <a:p>
            <a:pPr algn="l" marL="0" indent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Rewrite agent with Agent Platform Sessions. Tools retrieve nearby prompts and IRT difficulty.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Firestore</a:t>
            </a:r>
          </a:p>
          <a:p>
            <a:pPr algn="l" marL="0" indent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Stores 1,911 votes, IRT parameters, feedback and saved stills.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video understanding + Gemini image model</a:t>
            </a:r>
          </a:p>
          <a:p>
            <a:pPr algn="l" marL="0" indent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Clip second look and still preview.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2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Active for sample prompts (saved stills); live generation limited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Demo caption"/>
          <p:cNvSpPr txBox="1"/>
          <p:nvPr/>
        </p:nvSpPr>
        <p:spPr>
          <a:xfrm>
            <a:off x="393192" y="1234440"/>
            <a:ext cx="8321040" cy="49377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55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 spoon and a laptop: 46.8% → 15.8% estimated risk after the Gemini rewrite.</a:t>
            </a:r>
          </a:p>
        </p:txBody>
      </p:sp>
      <p:sp>
        <p:nvSpPr>
          <p:cNvPr id="137" name="Risk label"/>
          <p:cNvSpPr txBox="1"/>
          <p:nvPr/>
        </p:nvSpPr>
        <p:spPr>
          <a:xfrm>
            <a:off x="429768" y="1847088"/>
            <a:ext cx="3931920" cy="256032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25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Risk + why</a:t>
            </a:r>
          </a:p>
        </p:txBody>
      </p:sp>
      <p:pic>
        <p:nvPicPr>
          <p:cNvPr id="138" name="Frame 02 risk estimate" descr="demo/frames/02_risk_and_score_details.png"/>
          <p:cNvPicPr/>
          <p:nvPr/>
        </p:nvPicPr>
        <p:blipFill>
          <a:blip r:embed="rId5"/>
          <a:srcRect l="46094" t="10185" r="16771" b="72222"/>
          <a:stretch>
            <a:fillRect/>
          </a:stretch>
        </p:blipFill>
        <p:spPr>
          <a:xfrm>
            <a:off x="429768" y="2176272"/>
            <a:ext cx="3931920" cy="1047777"/>
          </a:xfrm>
          <a:prstGeom prst="rect">
            <a:avLst/>
          </a:prstGeom>
        </p:spPr>
      </p:pic>
      <p:pic>
        <p:nvPicPr>
          <p:cNvPr id="139" name="Frame 02 nearest-prompt explanation" descr="demo/frames/02_risk_and_score_details.png"/>
          <p:cNvPicPr/>
          <p:nvPr/>
        </p:nvPicPr>
        <p:blipFill>
          <a:blip r:embed="rId6"/>
          <a:srcRect l="46615" t="56944" r="35677" b="33796"/>
          <a:stretch>
            <a:fillRect/>
          </a:stretch>
        </p:blipFill>
        <p:spPr>
          <a:xfrm>
            <a:off x="429768" y="3310128"/>
            <a:ext cx="3931920" cy="1156716"/>
          </a:xfrm>
          <a:prstGeom prst="rect">
            <a:avLst/>
          </a:prstGeom>
        </p:spPr>
      </p:pic>
      <p:sp>
        <p:nvSpPr>
          <p:cNvPr id="140" name="Rewrite label"/>
          <p:cNvSpPr txBox="1"/>
          <p:nvPr/>
        </p:nvSpPr>
        <p:spPr>
          <a:xfrm>
            <a:off x="4663440" y="1847088"/>
            <a:ext cx="2286000" cy="256032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25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Better prompt</a:t>
            </a:r>
          </a:p>
        </p:txBody>
      </p:sp>
      <p:pic>
        <p:nvPicPr>
          <p:cNvPr id="141" name="Frame 04 better prompt" descr="demo/frames/04_better_prompt_copied.png"/>
          <p:cNvPicPr/>
          <p:nvPr/>
        </p:nvPicPr>
        <p:blipFill>
          <a:blip r:embed="rId7"/>
          <a:srcRect l="65104" t="10185" r="16771" b="57870"/>
          <a:stretch>
            <a:fillRect/>
          </a:stretch>
        </p:blipFill>
        <p:spPr>
          <a:xfrm>
            <a:off x="4663440" y="2176272"/>
            <a:ext cx="2194560" cy="2175641"/>
          </a:xfrm>
          <a:prstGeom prst="rect">
            <a:avLst/>
          </a:prstGeom>
        </p:spPr>
      </p:pic>
      <p:sp>
        <p:nvSpPr>
          <p:cNvPr id="142" name="Still label"/>
          <p:cNvSpPr txBox="1"/>
          <p:nvPr/>
        </p:nvSpPr>
        <p:spPr>
          <a:xfrm>
            <a:off x="7086600" y="1847088"/>
            <a:ext cx="1645920" cy="256032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250" b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Saved still</a:t>
            </a:r>
          </a:p>
        </p:txBody>
      </p:sp>
      <p:pic>
        <p:nvPicPr>
          <p:cNvPr id="143" name="Frame 05 saved-still asset, cache byte match" descr="docs/deck_assets/spoon_original.jpg"/>
          <p:cNvPicPr/>
          <p:nvPr/>
        </p:nvPicPr>
        <p:blipFill>
          <a:blip r:embed="rId8"/>
          <a:stretch>
            <a:fillRect/>
          </a:stretch>
        </p:blipFill>
        <p:spPr>
          <a:xfrm>
            <a:off x="7086600" y="2176272"/>
            <a:ext cx="1691640" cy="966652"/>
          </a:xfrm>
          <a:prstGeom prst="rect">
            <a:avLst/>
          </a:prstGeom>
        </p:spPr>
      </p:pic>
      <p:sp>
        <p:nvSpPr>
          <p:cNvPr id="144" name="Still limitation label"/>
          <p:cNvSpPr txBox="1"/>
          <p:nvPr/>
        </p:nvSpPr>
        <p:spPr>
          <a:xfrm>
            <a:off x="7086600" y="3310128"/>
            <a:ext cx="1700784" cy="1216152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12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0 model calls</a:t>
            </a:r>
            <a:br/>
            <a:r>
              <a:rPr lang="en-US" sz="112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$0.00</a:t>
            </a:r>
            <a:br/>
            <a:r>
              <a:rPr lang="en-US" sz="112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br/>
            <a:r>
              <a:rPr lang="en-US" sz="112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still cannot judge motion, flicker or timing.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Benchmarking content"/>
          <p:cNvSpPr txBox="1"/>
          <p:nvPr/>
        </p:nvSpPr>
        <p:spPr>
          <a:xfrm>
            <a:off x="393192" y="1280160"/>
            <a:ext cx="8321040" cy="3602736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 we measured, and the limits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7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Held-out AUC 0.67</a:t>
            </a:r>
          </a:p>
          <a:p>
            <a:pPr algn="l" marL="0" indent="0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4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Historical signal, not a calibrated probability for today's models.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image generation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4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60 test calls across three Gemini image models. Best 8/20 under shared capacity.</a:t>
            </a:r>
          </a:p>
          <a:p>
            <a:pPr algn="l" marL="0" indent="0">
              <a:lnSpc>
                <a:spcPct val="108000"/>
              </a:lnSpc>
              <a:spcAft>
                <a:spcPts val="1200"/>
              </a:spcAft>
              <a:buNone/>
            </a:pPr>
            <a:r>
              <a:rPr lang="en-US" sz="14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Judges see saved stills for the 5 samples, labelled "0 model calls · $0.00".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Clip-review accuracy: not measured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Future development content"/>
          <p:cNvSpPr txBox="1"/>
          <p:nvPr/>
        </p:nvSpPr>
        <p:spPr>
          <a:xfrm>
            <a:off x="393192" y="1325880"/>
            <a:ext cx="8321040" cy="347472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1600"/>
              </a:spcAft>
              <a:buNone/>
            </a:pPr>
            <a:r>
              <a:rPr lang="en-US" sz="18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</a:t>
            </a:r>
          </a:p>
          <a:p>
            <a:pPr algn="l" marL="0" indent="0">
              <a:lnSpc>
                <a:spcPct val="108000"/>
              </a:lnSpc>
              <a:spcAft>
                <a:spcPts val="1600"/>
              </a:spcAft>
              <a:buNone/>
            </a:pPr>
            <a:r>
              <a:rPr lang="en-US"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stills with dedicated image capacity.</a:t>
            </a:r>
          </a:p>
          <a:p>
            <a:pPr algn="l" marL="0" indent="0">
              <a:lnSpc>
                <a:spcPct val="108000"/>
              </a:lnSpc>
              <a:spcAft>
                <a:spcPts val="1600"/>
              </a:spcAft>
              <a:buNone/>
            </a:pPr>
            <a:r>
              <a:rPr lang="en-US"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Separate tabs for check and clip review.</a:t>
            </a:r>
          </a:p>
          <a:p>
            <a:pPr algn="l" marL="0" indent="0">
              <a:lnSpc>
                <a:spcPct val="108000"/>
              </a:lnSpc>
              <a:spcAft>
                <a:spcPts val="1600"/>
              </a:spcAft>
              <a:buNone/>
            </a:pPr>
            <a:r>
              <a:rPr lang="en-US"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Non-English vote data before scoring non-English prompts.</a:t>
            </a:r>
          </a:p>
          <a:p>
            <a:pPr algn="l" marL="0" indent="0">
              <a:lnSpc>
                <a:spcPct val="108000"/>
              </a:lnSpc>
              <a:spcAft>
                <a:spcPts val="1600"/>
              </a:spcAft>
              <a:buNone/>
            </a:pPr>
            <a:r>
              <a:rPr lang="en-US" sz="16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On-page emphasis of the risk drop.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Submission links"/>
          <p:cNvSpPr txBox="1"/>
          <p:nvPr/>
        </p:nvSpPr>
        <p:spPr>
          <a:xfrm>
            <a:off x="393192" y="1325880"/>
            <a:ext cx="8302752" cy="3474720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27432" rIns="27432" tIns="27432" bIns="27432">
            <a:noAutofit/>
          </a:bodyPr>
          <a:lstStyle/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GitHub Public Repository</a:t>
            </a:r>
          </a:p>
          <a:p>
            <a:pPr algn="l" marL="0" indent="0">
              <a:lnSpc>
                <a:spcPct val="108000"/>
              </a:lnSpc>
              <a:spcAft>
                <a:spcPts val="2200"/>
              </a:spcAft>
              <a:buNone/>
            </a:pPr>
            <a:r>
              <a:rPr lang="en-US"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5"/>
              </a:rPr>
              <a:t>https://github.com/testofschool/preflight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Video Link (3 Minutes)</a:t>
            </a:r>
          </a:p>
          <a:p>
            <a:pPr algn="l" marL="0" indent="0">
              <a:lnSpc>
                <a:spcPct val="108000"/>
              </a:lnSpc>
              <a:spcAft>
                <a:spcPts val="2200"/>
              </a:spcAft>
              <a:buNone/>
            </a:pPr>
            <a:r>
              <a:rPr lang="en-US" sz="150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Pending public upload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6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Final Product Link</a:t>
            </a:r>
          </a:p>
          <a:p>
            <a:pPr algn="l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5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6"/>
              </a:rPr>
              <a:t>https://preflight-jcgro45veq-as.a.run.app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