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Default Extension="jpg" ContentType="image/jpeg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3" r:id="rId13"/>
    <p:sldId id="264" r:id="rId14"/>
    <p:sldId id="266" r:id="rId16"/>
    <p:sldId id="267" r:id="rId17"/>
    <p:sldId id="268" r:id="rId18"/>
    <p:sldId id="270" r:id="rIdV7Closing"/>
    <p:sldId id="269" r:id="rId19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V7Closing" Type="http://schemas.openxmlformats.org/officeDocument/2006/relationships/slide" Target="slides/slide1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Felix-supplied CODEX_ONESHOT_preflight_final_v5, Track B row(s) 1.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Canonical local copy: reports/final_v6/CODEX_ONESHOT_preflight_final_v5.md. Wording shortened only within the authorized table facts.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 two user quotes are intentionally shortened only to the exact fragments explicitly supplied in the v7 map.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https://www.trustpilot.com/reviews/6a9f952dc2a80e997c67354a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https://community.adobe.com/questions-404/wasted-generative-credits-on-bad-results-1479378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https://huggingface.co/datasets/TIGER-Lab/GenAI-Bench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GenAI-Bench 2024: 21% of 1,911 human pairwise votes rejected both videos.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Concept photograph generated using built-in image tool; model name not returned: UNREPORTED. It depicts no actual user event or product.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https://help.runwayml.com/hc/en-us/articles/34266159290003-Can-I-have-credits-refunded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Runway TrustScore 1.1/5, 340 reviews; Adobe preview request 219 votes, per supplied v7 canon. These do not measure Preflight demand or savings.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check belongs before pay describes the displayed workflow. It intentionally avoids claiming no competing market product exists.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and rewrite are genuine crops from demo/frames/02_risk_and_score_details.png and 04_better_prompt_copied.png. Saved still is a square crop of docs/deck_assets/spoon_original.jpg.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comes from 1,911 human votes plus separately stored feedback, and is a mixed heuristic, not calibrated failure probability.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rewrite is presented only if estimated risk drops. Still before $3.20 video; price calculation in supplied canon is 8 s at $0.40/s.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Saved still cannot judge motion, flicker or timing; no new image or video model call was made for product evidence.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Four product storyboard thumbnails: paste, risk and why, better prompt, saved still and separate clip-review workflow.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Process ordinals 1–4 are explicitly authorized by root from the user-mapped numbered thumbnails; they are structural identifiers, not new measured quantities. Actual source crops remain unmodified apart from cropping and resampling.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Six-box simplification of deployed README architecture. Browser requests Cloud Run/FastAPI; Google ADK runs Gemini rewrite tools; nearby prompts and IRT support checking; Firestore persists data and feedback; Agent Platform Sessions stores anonymous sessions.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Image and video understanding services appear on the following technology page. This diagram simplifies connections and does not imply those services execute serially.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Six technology labels are exactly the supplied v7 map.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3.5 Flash is the user-explicit model identifier, not a newly introduced numerical result.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Cloud roles reproduced from README; image service remains limited to saved samples and live rewrite remains active.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Actual saved original and rewrite spoon/laptop images. Original 46.8%, rewrite 15.8%, mixed estimated risk. No empirical video-quality improvement claim.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Original SHA256 ec93ee2616e1b65ac4cad0d2d82aabebe5f913900d9af9a3cde26c2915fa0121; rewrite SHA256 8dac9ce3a56559eb67a707a322be16a59dc91e19557b77480ef1aec2f6738ea7.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Rewrite image is faithfully cropped to omit the white logo. The complete original spoon is retained: its apparent thin extra edge/trackpad line remains unresolved. No pixel retouch, reconstruction or new image generation was performed. The changed scene and uncalibrated estimates establish no controlled video improvement.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Each is a saved image-model still; no motion, flicker or timing judgment follows from the image. Saved retrieval uses 0 model calls and $0.00.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Historical held-out AUC 0.67 is signal, not calibrated probability for current models.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Live-image tests: 60 calls across three Gemini image models; best result 8/20 valid images under shared capacity. Saved stills support judging; no live-reliability pass is claimed.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Saved sample retrieval: 0 model calls, $0.00. Clip-review accuracy unmeasured.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Felix designed and shipped Preflight. IRT method derives from his two preprints. He has 2.5 years of generative-video pipeline experience.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Sidhant performed QA across 10 points; 6 shipped. First-screen audit reduced 30 to 18 objects and 23 to 7 colours. Supplied canon, consistent with reports/first_viewport_after.json for the after counts.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Next: live stills, separate tabs for check/clip review, non-English vote data before scoring non-English prompts.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Earlier crop source: sibling evidence/preflight-20261016/final-cloud-desktop.png, a checked full-page state. Now crop source: reports/first_viewport_d_primary/first_viewport.png, initial screen after cleanup. Both show only number-free headers.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These are authentic earlier/current header crops, not matched initial-viewport audit samples. The original initial-viewport before screenshot could not be found. The QA count strip is separate from the header comparison. Never infer the 30/23 measurement from this earlier checked-state crop.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https://github.com/testofschool/preflight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https://preflight-jcgro45veq-as.a.run.app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Public YouTube URL remains unprovided. Pending public upload is intentional.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Original organizer field label Demo Video Link (3 Minutes) is retained as template text; selected final video is 3:28.233, independently checked by Track I.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Content canon: user-supplied Preflight final v7 slide map; original organizer section and template resources preserved.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Point: Know before you pay. Reason: Generators bill every attempt; refunds skip clips that finish but fail.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Example: A spoon and a laptop, mixed estimated risk 46.8% to 15.8%, with saved image stills before a $3.20 video. This is not measured savings or proven improvement in generated video quality.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Closing: Preflight, know before you pay.</a:t>
            </a:r>
          </a:p>
          <a:p>
            <a:pPr algn="l" marL="0" indent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Concept photograph generated using built-in image tool; exact model not returned: UNREPORTED. Blank slate image contains no product pixels or event claim.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preflight_concept_spent_attempts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preflight_risk_card_crop.jpg"/><Relationship Id="rId6" Type="http://schemas.openxmlformats.org/officeDocument/2006/relationships/image" Target="../media/preflight_better_prompt_crop.jpg"/><Relationship Id="rId7" Type="http://schemas.openxmlformats.org/officeDocument/2006/relationships/image" Target="../media/preflight_spoon_original_square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preflight_spoon_original.jpg"/><Relationship Id="rId6" Type="http://schemas.openxmlformats.org/officeDocument/2006/relationships/image" Target="../media/preflight_spoon_rewritten.jpg"/><Relationship Id="rId7" Type="http://schemas.openxmlformats.org/officeDocument/2006/relationships/image" Target="../media/preflight_paste_crop.jpg"/><Relationship Id="rId8" Type="http://schemas.openxmlformats.org/officeDocument/2006/relationships/image" Target="../media/preflight_risk_wide_round2.jpg"/><Relationship Id="rId9" Type="http://schemas.openxmlformats.org/officeDocument/2006/relationships/image" Target="../media/preflight_why_tight_round2.jpg"/><Relationship Id="rId10" Type="http://schemas.openxmlformats.org/officeDocument/2006/relationships/image" Target="../media/preflight_rewrite_tight_round2.jpg"/><Relationship Id="rId11" Type="http://schemas.openxmlformats.org/officeDocument/2006/relationships/image" Target="../media/preflight_still_wide_round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preflight_02_risk_and_score_details.png"/><Relationship Id="rId6" Type="http://schemas.openxmlformats.org/officeDocument/2006/relationships/image" Target="../media/preflight_02_risk_and_score_details.png"/><Relationship Id="rId7" Type="http://schemas.openxmlformats.org/officeDocument/2006/relationships/image" Target="../media/preflight_04_better_prompt_copied.png"/><Relationship Id="rId8" Type="http://schemas.openxmlformats.org/officeDocument/2006/relationships/image" Target="../media/preflight_spoon_original.jpg"/><Relationship Id="rId9" Type="http://schemas.openxmlformats.org/officeDocument/2006/relationships/image" Target="../media/preflight_spoon_original.jpg"/><Relationship Id="rId10" Type="http://schemas.openxmlformats.org/officeDocument/2006/relationships/image" Target="../media/preflight_spoon_rewrite_nologo_round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preflight_earlier_header_large_round2.jpg"/><Relationship Id="rId6" Type="http://schemas.openxmlformats.org/officeDocument/2006/relationships/image" Target="../media/preflight_current_header_large_round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testofschool/preflight" TargetMode="External"/><Relationship Id="rId6" Type="http://schemas.openxmlformats.org/officeDocument/2006/relationships/hyperlink" Target="https://preflight-jcgro45veq-as.a.run.app" TargetMode="External"/><Relationship Id="rId7" Type="http://schemas.openxmlformats.org/officeDocument/2006/relationships/hyperlink" Target="https://github.com/testofschool/preflight" TargetMode="External"/><Relationship Id="rId8" Type="http://schemas.openxmlformats.org/officeDocument/2006/relationships/hyperlink" Target="https://preflight-jcgro45veq-as.a.run.ap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preflight_concept_before_shot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testofschool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Jung Min Kang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People who pay per generation for AI video only learn a clip is unusable after they have paid for it.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You pay first. You find out later.</a:t>
            </a:r>
          </a:p>
        </p:txBody>
      </p:sp>
      <p:pic>
        <p:nvPicPr>
          <p:cNvPr id="73" name="Concept photo: spent attempts" descr="docs/deck_assets/v7/concept_spent_attempts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2962656" y="1609344"/>
            <a:ext cx="5897880" cy="3337560"/>
          </a:xfrm>
          <a:prstGeom prst="rect">
            <a:avLst/>
          </a:prstGeom>
        </p:spPr>
      </p:pic>
      <p:sp>
        <p:nvSpPr>
          <p:cNvPr id="74" name="Quote: burned credits"/>
          <p:cNvSpPr txBox="1"/>
          <p:nvPr/>
        </p:nvSpPr>
        <p:spPr>
          <a:xfrm>
            <a:off x="393192" y="1773936"/>
            <a:ext cx="2368296" cy="102412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“you still burn credits on the failed attempt”</a:t>
            </a:r>
          </a:p>
        </p:txBody>
      </p:sp>
      <p:sp>
        <p:nvSpPr>
          <p:cNvPr id="75" name="Quote attribution"/>
          <p:cNvSpPr txBox="1"/>
          <p:nvPr/>
        </p:nvSpPr>
        <p:spPr>
          <a:xfrm>
            <a:off x="393192" y="2816352"/>
            <a:ext cx="2368296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Trustpilot, Runway review</a:t>
            </a:r>
          </a:p>
        </p:txBody>
      </p:sp>
      <p:sp>
        <p:nvSpPr>
          <p:cNvPr id="76" name="Quote: preview request"/>
          <p:cNvSpPr txBox="1"/>
          <p:nvPr/>
        </p:nvSpPr>
        <p:spPr>
          <a:xfrm>
            <a:off x="393192" y="3328416"/>
            <a:ext cx="2368296" cy="11887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6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“a lo-res preview render before having to spend actual credits”</a:t>
            </a:r>
          </a:p>
        </p:txBody>
      </p:sp>
      <p:sp>
        <p:nvSpPr>
          <p:cNvPr id="77" name="Quote attribution Adobe"/>
          <p:cNvSpPr txBox="1"/>
          <p:nvPr/>
        </p:nvSpPr>
        <p:spPr>
          <a:xfrm>
            <a:off x="393192" y="4553712"/>
            <a:ext cx="2368296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88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Adobe Community</a:t>
            </a:r>
          </a:p>
        </p:txBody>
      </p:sp>
      <p:sp>
        <p:nvSpPr>
          <p:cNvPr id="78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2024 GenAI-Bench: 21% of 1,911 human votes rejected both videos. Conceptual photograph.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 check belongs before pay.</a:t>
            </a:r>
          </a:p>
        </p:txBody>
      </p:sp>
      <p:sp>
        <p:nvSpPr>
          <p:cNvPr id="81" name="Gap evidence"/>
          <p:cNvSpPr txBox="1"/>
          <p:nvPr/>
        </p:nvSpPr>
        <p:spPr>
          <a:xfrm>
            <a:off x="393192" y="1627632"/>
            <a:ext cx="8339328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Refunds cover errors, not unusable finished clips. Runway 1.1/5 (340 reviews). Adobe preview request: 219 votes.</a:t>
            </a:r>
          </a:p>
        </p:txBody>
      </p:sp>
      <p:sp>
        <p:nvSpPr>
          <p:cNvPr id="82" name="Workflow Prompt"/>
          <p:cNvSpPr txBox="1"/>
          <p:nvPr/>
        </p:nvSpPr>
        <p:spPr>
          <a:xfrm>
            <a:off x="393192" y="2212848"/>
            <a:ext cx="1472184" cy="26060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83" name="Workflow label Prompt"/>
          <p:cNvSpPr txBox="1"/>
          <p:nvPr/>
        </p:nvSpPr>
        <p:spPr>
          <a:xfrm>
            <a:off x="429768" y="3300984"/>
            <a:ext cx="139903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7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Prompt</a:t>
            </a:r>
          </a:p>
        </p:txBody>
      </p:sp>
      <p:cxnSp>
        <p:nvCxnSpPr>
          <p:cNvPr id="84" name="Workflow connector 0"/>
          <p:cNvCxnSpPr/>
          <p:nvPr/>
        </p:nvCxnSpPr>
        <p:spPr>
          <a:xfrm>
            <a:off x="1865376" y="3520440"/>
            <a:ext cx="210312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85" name="Workflow Pay"/>
          <p:cNvSpPr txBox="1"/>
          <p:nvPr/>
        </p:nvSpPr>
        <p:spPr>
          <a:xfrm>
            <a:off x="2103120" y="2212848"/>
            <a:ext cx="1472184" cy="26060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86" name="Workflow label Pay"/>
          <p:cNvSpPr txBox="1"/>
          <p:nvPr/>
        </p:nvSpPr>
        <p:spPr>
          <a:xfrm>
            <a:off x="2139696" y="3300984"/>
            <a:ext cx="139903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7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Pay</a:t>
            </a:r>
          </a:p>
        </p:txBody>
      </p:sp>
      <p:cxnSp>
        <p:nvCxnSpPr>
          <p:cNvPr id="87" name="Workflow connector 1"/>
          <p:cNvCxnSpPr/>
          <p:nvPr/>
        </p:nvCxnSpPr>
        <p:spPr>
          <a:xfrm>
            <a:off x="3575304" y="3520440"/>
            <a:ext cx="210312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88" name="Workflow Generate"/>
          <p:cNvSpPr txBox="1"/>
          <p:nvPr/>
        </p:nvSpPr>
        <p:spPr>
          <a:xfrm>
            <a:off x="3813048" y="2212848"/>
            <a:ext cx="1472184" cy="26060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89" name="Workflow label Generate"/>
          <p:cNvSpPr txBox="1"/>
          <p:nvPr/>
        </p:nvSpPr>
        <p:spPr>
          <a:xfrm>
            <a:off x="3849624" y="3300984"/>
            <a:ext cx="139903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7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Generate</a:t>
            </a:r>
          </a:p>
        </p:txBody>
      </p:sp>
      <p:cxnSp>
        <p:nvCxnSpPr>
          <p:cNvPr id="90" name="Workflow connector 2"/>
          <p:cNvCxnSpPr/>
          <p:nvPr/>
        </p:nvCxnSpPr>
        <p:spPr>
          <a:xfrm>
            <a:off x="5285232" y="3520440"/>
            <a:ext cx="210312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91" name="Workflow Judge"/>
          <p:cNvSpPr txBox="1"/>
          <p:nvPr/>
        </p:nvSpPr>
        <p:spPr>
          <a:xfrm>
            <a:off x="5522976" y="2212848"/>
            <a:ext cx="1472184" cy="26060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92" name="Workflow label Judge"/>
          <p:cNvSpPr txBox="1"/>
          <p:nvPr/>
        </p:nvSpPr>
        <p:spPr>
          <a:xfrm>
            <a:off x="5559552" y="3300984"/>
            <a:ext cx="139903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7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Judge</a:t>
            </a:r>
          </a:p>
        </p:txBody>
      </p:sp>
      <p:cxnSp>
        <p:nvCxnSpPr>
          <p:cNvPr id="93" name="Workflow connector 3"/>
          <p:cNvCxnSpPr/>
          <p:nvPr/>
        </p:nvCxnSpPr>
        <p:spPr>
          <a:xfrm>
            <a:off x="6995160" y="3520440"/>
            <a:ext cx="210312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94" name="Workflow Re-prompt"/>
          <p:cNvSpPr txBox="1"/>
          <p:nvPr/>
        </p:nvSpPr>
        <p:spPr>
          <a:xfrm>
            <a:off x="7232904" y="2212848"/>
            <a:ext cx="1472184" cy="260604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95" name="Workflow label Re-prompt"/>
          <p:cNvSpPr txBox="1"/>
          <p:nvPr/>
        </p:nvSpPr>
        <p:spPr>
          <a:xfrm>
            <a:off x="7269480" y="3300984"/>
            <a:ext cx="1399032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7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Re-prompt</a:t>
            </a:r>
          </a:p>
        </p:txBody>
      </p:sp>
      <p:sp>
        <p:nvSpPr>
          <p:cNvPr id="96" name="Before pay marker"/>
          <p:cNvSpPr txBox="1"/>
          <p:nvPr/>
        </p:nvSpPr>
        <p:spPr>
          <a:xfrm>
            <a:off x="1746504" y="1929384"/>
            <a:ext cx="91440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00" b="1">
                <a:solidFill>
                  <a:srgbClr val="B4563B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Preflight</a:t>
            </a:r>
          </a:p>
        </p:txBody>
      </p:sp>
      <p:sp>
        <p:nvSpPr>
          <p:cNvPr id="97" name="Coral insertion marker"/>
          <p:cNvSpPr txBox="1"/>
          <p:nvPr/>
        </p:nvSpPr>
        <p:spPr>
          <a:xfrm>
            <a:off x="1938528" y="2185416"/>
            <a:ext cx="73152" cy="2651760"/>
          </a:xfrm>
          <a:prstGeom prst="rect">
            <a:avLst/>
          </a:prstGeom>
          <a:solidFill>
            <a:srgbClr val="EF7F60"/>
          </a:solidFill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98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Sources: Runway credit-refund policy, Trustpilot, Adobe Community preview request.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Three checks before you spend.</a:t>
            </a:r>
          </a:p>
        </p:txBody>
      </p:sp>
      <p:pic>
        <p:nvPicPr>
          <p:cNvPr id="89" name="Real product risk crop" descr="docs/deck_assets/v7/risk_card_crop.jpg"/>
          <p:cNvPicPr/>
          <p:nvPr/>
        </p:nvPicPr>
        <p:blipFill>
          <a:blip r:embed="rId5"/>
          <a:stretch>
            <a:fillRect/>
          </a:stretch>
        </p:blipFill>
        <p:spPr>
          <a:xfrm>
            <a:off x="393192" y="1728216"/>
            <a:ext cx="2743200" cy="1633881"/>
          </a:xfrm>
          <a:prstGeom prst="rect">
            <a:avLst/>
          </a:prstGeom>
        </p:spPr>
      </p:pic>
      <p:pic>
        <p:nvPicPr>
          <p:cNvPr id="90" name="Real product better-prompt crop" descr="docs/deck_assets/v7/better_prompt_crop.jpg"/>
          <p:cNvPicPr/>
          <p:nvPr/>
        </p:nvPicPr>
        <p:blipFill>
          <a:blip r:embed="rId6"/>
          <a:stretch>
            <a:fillRect/>
          </a:stretch>
        </p:blipFill>
        <p:spPr>
          <a:xfrm>
            <a:off x="3200400" y="1728216"/>
            <a:ext cx="2743200" cy="2719552"/>
          </a:xfrm>
          <a:prstGeom prst="rect">
            <a:avLst/>
          </a:prstGeom>
        </p:spPr>
      </p:pic>
      <p:pic>
        <p:nvPicPr>
          <p:cNvPr id="91" name="Real saved still, square crop" descr="docs/deck_assets/v7/spoon_original_square.jpg"/>
          <p:cNvPicPr/>
          <p:nvPr/>
        </p:nvPicPr>
        <p:blipFill>
          <a:blip r:embed="rId7"/>
          <a:stretch>
            <a:fillRect/>
          </a:stretch>
        </p:blipFill>
        <p:spPr>
          <a:xfrm>
            <a:off x="6007608" y="1728216"/>
            <a:ext cx="2743200" cy="2743200"/>
          </a:xfrm>
          <a:prstGeom prst="rect">
            <a:avLst/>
          </a:prstGeom>
        </p:spPr>
      </p:pic>
      <p:sp>
        <p:nvSpPr>
          <p:cNvPr id="92" name="Risk crop label"/>
          <p:cNvSpPr txBox="1"/>
          <p:nvPr/>
        </p:nvSpPr>
        <p:spPr>
          <a:xfrm>
            <a:off x="393192" y="3575304"/>
            <a:ext cx="2743200" cy="78638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8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from 1,911 human votes</a:t>
            </a:r>
            <a:br/>
            <a:r>
              <a:rPr lang="en-US" sz="138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Historical, uncalibrated</a:t>
            </a:r>
          </a:p>
        </p:txBody>
      </p:sp>
      <p:sp>
        <p:nvSpPr>
          <p:cNvPr id="93" name="Rewrite crop label"/>
          <p:cNvSpPr txBox="1"/>
          <p:nvPr/>
        </p:nvSpPr>
        <p:spPr>
          <a:xfrm>
            <a:off x="3200400" y="4535424"/>
            <a:ext cx="274320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3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rewrite, kept only if risk drops</a:t>
            </a:r>
          </a:p>
        </p:txBody>
      </p:sp>
      <p:sp>
        <p:nvSpPr>
          <p:cNvPr id="94" name="Still crop label"/>
          <p:cNvSpPr txBox="1"/>
          <p:nvPr/>
        </p:nvSpPr>
        <p:spPr>
          <a:xfrm>
            <a:off x="6007608" y="4535424"/>
            <a:ext cx="274320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3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 still before a $3.20 video</a:t>
            </a:r>
            <a:br/>
            <a:r>
              <a:rPr lang="en-US" sz="113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Motion untested</a:t>
            </a:r>
          </a:p>
        </p:txBody>
      </p:sp>
      <p:sp>
        <p:nvSpPr>
          <p:cNvPr id="95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Sources: demo/frames, saved spoon/laptop still, Google video pricing page.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Paste. Check. Rewrite. Look.</a:t>
            </a:r>
          </a:p>
        </p:txBody>
      </p:sp>
      <p:sp>
        <p:nvSpPr>
          <p:cNvPr id="97" name="Process ordinal 1"/>
          <p:cNvSpPr txBox="1"/>
          <p:nvPr/>
        </p:nvSpPr>
        <p:spPr>
          <a:xfrm>
            <a:off x="393192" y="1627632"/>
            <a:ext cx="256032" cy="20116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1</a:t>
            </a:r>
          </a:p>
        </p:txBody>
      </p:sp>
      <p:sp>
        <p:nvSpPr>
          <p:cNvPr id="98" name="Process label 1"/>
          <p:cNvSpPr txBox="1"/>
          <p:nvPr/>
        </p:nvSpPr>
        <p:spPr>
          <a:xfrm>
            <a:off x="740664" y="1627632"/>
            <a:ext cx="3813048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Paste</a:t>
            </a:r>
          </a:p>
        </p:txBody>
      </p:sp>
      <p:sp>
        <p:nvSpPr>
          <p:cNvPr id="99" name="Process ordinal 2"/>
          <p:cNvSpPr txBox="1"/>
          <p:nvPr/>
        </p:nvSpPr>
        <p:spPr>
          <a:xfrm>
            <a:off x="4663440" y="1627632"/>
            <a:ext cx="256032" cy="20116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2</a:t>
            </a:r>
          </a:p>
        </p:txBody>
      </p:sp>
      <p:sp>
        <p:nvSpPr>
          <p:cNvPr id="100" name="Process label 2"/>
          <p:cNvSpPr txBox="1"/>
          <p:nvPr/>
        </p:nvSpPr>
        <p:spPr>
          <a:xfrm>
            <a:off x="5010912" y="1627632"/>
            <a:ext cx="3813048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+ why</a:t>
            </a:r>
          </a:p>
        </p:txBody>
      </p:sp>
      <p:sp>
        <p:nvSpPr>
          <p:cNvPr id="101" name="Process ordinal 3"/>
          <p:cNvSpPr txBox="1"/>
          <p:nvPr/>
        </p:nvSpPr>
        <p:spPr>
          <a:xfrm>
            <a:off x="393192" y="3529584"/>
            <a:ext cx="256032" cy="20116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3</a:t>
            </a:r>
          </a:p>
        </p:txBody>
      </p:sp>
      <p:sp>
        <p:nvSpPr>
          <p:cNvPr id="102" name="Process label 3"/>
          <p:cNvSpPr txBox="1"/>
          <p:nvPr/>
        </p:nvSpPr>
        <p:spPr>
          <a:xfrm>
            <a:off x="740664" y="3529584"/>
            <a:ext cx="3813048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Better prompt</a:t>
            </a:r>
          </a:p>
        </p:txBody>
      </p:sp>
      <p:sp>
        <p:nvSpPr>
          <p:cNvPr id="103" name="Process ordinal 4"/>
          <p:cNvSpPr txBox="1"/>
          <p:nvPr/>
        </p:nvSpPr>
        <p:spPr>
          <a:xfrm>
            <a:off x="4663440" y="3529584"/>
            <a:ext cx="256032" cy="20116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4</a:t>
            </a:r>
          </a:p>
        </p:txBody>
      </p:sp>
      <p:sp>
        <p:nvSpPr>
          <p:cNvPr id="104" name="Process label 4"/>
          <p:cNvSpPr txBox="1"/>
          <p:nvPr/>
        </p:nvSpPr>
        <p:spPr>
          <a:xfrm>
            <a:off x="5010912" y="3529584"/>
            <a:ext cx="3813048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Still / clip review</a:t>
            </a:r>
          </a:p>
        </p:txBody>
      </p:sp>
      <p:pic>
        <p:nvPicPr>
          <p:cNvPr id="105" name="Actual pasted prompt thumbnail" descr="docs/deck_assets/v7/paste_crop.jpg"/>
          <p:cNvPicPr/>
          <p:nvPr/>
        </p:nvPicPr>
        <p:blipFill>
          <a:blip r:embed="rId7"/>
          <a:stretch>
            <a:fillRect/>
          </a:stretch>
        </p:blipFill>
        <p:spPr>
          <a:xfrm>
            <a:off x="393192" y="1856232"/>
            <a:ext cx="4160520" cy="1331032"/>
          </a:xfrm>
          <a:prstGeom prst="rect">
            <a:avLst/>
          </a:prstGeom>
        </p:spPr>
      </p:pic>
      <p:pic>
        <p:nvPicPr>
          <p:cNvPr id="106" name="Actual risk thumbnail" descr="docs/deck_assets/v7/risk_wide_round2.jpg"/>
          <p:cNvPicPr/>
          <p:nvPr/>
        </p:nvPicPr>
        <p:blipFill>
          <a:blip r:embed="rId8"/>
          <a:stretch>
            <a:fillRect/>
          </a:stretch>
        </p:blipFill>
        <p:spPr>
          <a:xfrm>
            <a:off x="4663440" y="1856232"/>
            <a:ext cx="4160520" cy="1108694"/>
          </a:xfrm>
          <a:prstGeom prst="rect">
            <a:avLst/>
          </a:prstGeom>
        </p:spPr>
      </p:pic>
      <p:pic>
        <p:nvPicPr>
          <p:cNvPr id="107" name="Actual why sentence thumbnail" descr="docs/deck_assets/v7/why_tight_round2.jpg"/>
          <p:cNvPicPr/>
          <p:nvPr/>
        </p:nvPicPr>
        <p:blipFill>
          <a:blip r:embed="rId9"/>
          <a:stretch>
            <a:fillRect/>
          </a:stretch>
        </p:blipFill>
        <p:spPr>
          <a:xfrm>
            <a:off x="4663440" y="3008376"/>
            <a:ext cx="4160520" cy="499762"/>
          </a:xfrm>
          <a:prstGeom prst="rect">
            <a:avLst/>
          </a:prstGeom>
        </p:spPr>
      </p:pic>
      <p:pic>
        <p:nvPicPr>
          <p:cNvPr id="108" name="Actual rewrite sentence thumbnail" descr="docs/deck_assets/v7/rewrite_tight_round2.jpg"/>
          <p:cNvPicPr/>
          <p:nvPr/>
        </p:nvPicPr>
        <p:blipFill>
          <a:blip r:embed="rId10"/>
          <a:stretch>
            <a:fillRect/>
          </a:stretch>
        </p:blipFill>
        <p:spPr>
          <a:xfrm>
            <a:off x="393192" y="3739896"/>
            <a:ext cx="4160520" cy="792480"/>
          </a:xfrm>
          <a:prstGeom prst="rect">
            <a:avLst/>
          </a:prstGeom>
        </p:spPr>
      </p:pic>
      <p:pic>
        <p:nvPicPr>
          <p:cNvPr id="109" name="Actual saved still thumbnail" descr="docs/deck_assets/v7/still_wide_round2.jpg"/>
          <p:cNvPicPr/>
          <p:nvPr/>
        </p:nvPicPr>
        <p:blipFill>
          <a:blip r:embed="rId11"/>
          <a:stretch>
            <a:fillRect/>
          </a:stretch>
        </p:blipFill>
        <p:spPr>
          <a:xfrm>
            <a:off x="4663440" y="3739896"/>
            <a:ext cx="4160520" cy="1120616"/>
          </a:xfrm>
          <a:prstGeom prst="rect">
            <a:avLst/>
          </a:prstGeom>
        </p:spPr>
      </p:pic>
      <p:sp>
        <p:nvSpPr>
          <p:cNvPr id="110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Source: demo/frames and saved spoon/laptop still.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One request, a traceable check.</a:t>
            </a:r>
          </a:p>
        </p:txBody>
      </p:sp>
      <p:sp>
        <p:nvSpPr>
          <p:cNvPr id="113" name="Architecture node 0"/>
          <p:cNvSpPr txBox="1"/>
          <p:nvPr/>
        </p:nvSpPr>
        <p:spPr>
          <a:xfrm>
            <a:off x="393192" y="1828800"/>
            <a:ext cx="2578608" cy="1316736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14" name="Architecture label 0"/>
          <p:cNvSpPr txBox="1"/>
          <p:nvPr/>
        </p:nvSpPr>
        <p:spPr>
          <a:xfrm>
            <a:off x="475488" y="2221992"/>
            <a:ext cx="2414016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Browser</a:t>
            </a:r>
          </a:p>
        </p:txBody>
      </p:sp>
      <p:sp>
        <p:nvSpPr>
          <p:cNvPr id="115" name="Architecture node 1"/>
          <p:cNvSpPr txBox="1"/>
          <p:nvPr/>
        </p:nvSpPr>
        <p:spPr>
          <a:xfrm>
            <a:off x="3282696" y="1828800"/>
            <a:ext cx="2578608" cy="1316736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16" name="Architecture label 1"/>
          <p:cNvSpPr txBox="1"/>
          <p:nvPr/>
        </p:nvSpPr>
        <p:spPr>
          <a:xfrm>
            <a:off x="3364992" y="2221992"/>
            <a:ext cx="2414016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</a:t>
            </a:r>
            <a:br/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FastAPI</a:t>
            </a:r>
          </a:p>
        </p:txBody>
      </p:sp>
      <p:sp>
        <p:nvSpPr>
          <p:cNvPr id="117" name="Architecture node 2"/>
          <p:cNvSpPr txBox="1"/>
          <p:nvPr/>
        </p:nvSpPr>
        <p:spPr>
          <a:xfrm>
            <a:off x="6172200" y="1828800"/>
            <a:ext cx="2578608" cy="1316736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18" name="Architecture label 2"/>
          <p:cNvSpPr txBox="1"/>
          <p:nvPr/>
        </p:nvSpPr>
        <p:spPr>
          <a:xfrm>
            <a:off x="6254496" y="2221992"/>
            <a:ext cx="2414016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ADK</a:t>
            </a:r>
            <a:br/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rewrite</a:t>
            </a:r>
          </a:p>
        </p:txBody>
      </p:sp>
      <p:sp>
        <p:nvSpPr>
          <p:cNvPr id="119" name="Architecture node 3"/>
          <p:cNvSpPr txBox="1"/>
          <p:nvPr/>
        </p:nvSpPr>
        <p:spPr>
          <a:xfrm>
            <a:off x="6172200" y="3438144"/>
            <a:ext cx="2578608" cy="1316736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20" name="Architecture label 3"/>
          <p:cNvSpPr txBox="1"/>
          <p:nvPr/>
        </p:nvSpPr>
        <p:spPr>
          <a:xfrm>
            <a:off x="6254496" y="3831336"/>
            <a:ext cx="2414016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Nearest prompts</a:t>
            </a:r>
            <a:br/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IRT</a:t>
            </a:r>
          </a:p>
        </p:txBody>
      </p:sp>
      <p:sp>
        <p:nvSpPr>
          <p:cNvPr id="121" name="Architecture node 4"/>
          <p:cNvSpPr txBox="1"/>
          <p:nvPr/>
        </p:nvSpPr>
        <p:spPr>
          <a:xfrm>
            <a:off x="3282696" y="3438144"/>
            <a:ext cx="2578608" cy="1316736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22" name="Architecture label 4"/>
          <p:cNvSpPr txBox="1"/>
          <p:nvPr/>
        </p:nvSpPr>
        <p:spPr>
          <a:xfrm>
            <a:off x="3364992" y="3831336"/>
            <a:ext cx="2414016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</a:t>
            </a:r>
          </a:p>
        </p:txBody>
      </p:sp>
      <p:sp>
        <p:nvSpPr>
          <p:cNvPr id="123" name="Architecture node 5"/>
          <p:cNvSpPr txBox="1"/>
          <p:nvPr/>
        </p:nvSpPr>
        <p:spPr>
          <a:xfrm>
            <a:off x="393192" y="3438144"/>
            <a:ext cx="2578608" cy="1316736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24" name="Architecture label 5"/>
          <p:cNvSpPr txBox="1"/>
          <p:nvPr/>
        </p:nvSpPr>
        <p:spPr>
          <a:xfrm>
            <a:off x="475488" y="3831336"/>
            <a:ext cx="2414016" cy="60350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Platform</a:t>
            </a:r>
            <a:br/>
            <a:r>
              <a:rPr lang="en-US" sz="15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Sessions</a:t>
            </a:r>
          </a:p>
        </p:txBody>
      </p:sp>
      <p:cxnSp>
        <p:nvCxnSpPr>
          <p:cNvPr id="125" name="Top architecture connector 0"/>
          <p:cNvCxnSpPr/>
          <p:nvPr/>
        </p:nvCxnSpPr>
        <p:spPr>
          <a:xfrm>
            <a:off x="2971800" y="2487168"/>
            <a:ext cx="274320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26" name="Top architecture connector 1"/>
          <p:cNvCxnSpPr/>
          <p:nvPr/>
        </p:nvCxnSpPr>
        <p:spPr>
          <a:xfrm>
            <a:off x="5861304" y="2487168"/>
            <a:ext cx="274320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27" name="Architecture tools branch"/>
          <p:cNvCxnSpPr/>
          <p:nvPr/>
        </p:nvCxnSpPr>
        <p:spPr>
          <a:xfrm>
            <a:off x="7461504" y="3145536"/>
            <a:ext cx="0" cy="256032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28" name="Architecture data branch"/>
          <p:cNvCxnSpPr/>
          <p:nvPr/>
        </p:nvCxnSpPr>
        <p:spPr>
          <a:xfrm>
            <a:off x="4572000" y="3145536"/>
            <a:ext cx="0" cy="256032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29" name="Architecture session branch start"/>
          <p:cNvCxnSpPr/>
          <p:nvPr/>
        </p:nvCxnSpPr>
        <p:spPr>
          <a:xfrm>
            <a:off x="3474720" y="3145536"/>
            <a:ext cx="0" cy="146304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30" name="Architecture session branch rail"/>
          <p:cNvCxnSpPr/>
          <p:nvPr/>
        </p:nvCxnSpPr>
        <p:spPr>
          <a:xfrm flipH="1">
            <a:off x="1682496" y="3291840"/>
            <a:ext cx="1792224" cy="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cxnSp>
        <p:nvCxnSpPr>
          <p:cNvPr id="131" name="Architecture session branch end"/>
          <p:cNvCxnSpPr/>
          <p:nvPr/>
        </p:nvCxnSpPr>
        <p:spPr>
          <a:xfrm>
            <a:off x="1682496" y="3291840"/>
            <a:ext cx="0" cy="109728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132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Source: deployed application architecture and README service inventory.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All on Google Cloud.</a:t>
            </a:r>
          </a:p>
        </p:txBody>
      </p:sp>
      <p:sp>
        <p:nvSpPr>
          <p:cNvPr id="121" name="Technology chip 0"/>
          <p:cNvSpPr txBox="1"/>
          <p:nvPr/>
        </p:nvSpPr>
        <p:spPr>
          <a:xfrm>
            <a:off x="393192" y="1892808"/>
            <a:ext cx="1307592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22" name="Technology label 0"/>
          <p:cNvSpPr txBox="1"/>
          <p:nvPr/>
        </p:nvSpPr>
        <p:spPr>
          <a:xfrm>
            <a:off x="443484" y="2368296"/>
            <a:ext cx="1207008" cy="10332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Cloud Run</a:t>
            </a:r>
          </a:p>
        </p:txBody>
      </p:sp>
      <p:cxnSp>
        <p:nvCxnSpPr>
          <p:cNvPr id="123" name="Service role relationship 0"/>
          <p:cNvCxnSpPr/>
          <p:nvPr/>
        </p:nvCxnSpPr>
        <p:spPr>
          <a:xfrm>
            <a:off x="1046988" y="3493008"/>
            <a:ext cx="0" cy="27432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124" name="Technology role 0"/>
          <p:cNvSpPr txBox="1"/>
          <p:nvPr/>
        </p:nvSpPr>
        <p:spPr>
          <a:xfrm>
            <a:off x="443484" y="3950208"/>
            <a:ext cx="1207008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3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Hosts</a:t>
            </a:r>
          </a:p>
        </p:txBody>
      </p:sp>
      <p:sp>
        <p:nvSpPr>
          <p:cNvPr id="125" name="Technology chip 1"/>
          <p:cNvSpPr txBox="1"/>
          <p:nvPr/>
        </p:nvSpPr>
        <p:spPr>
          <a:xfrm>
            <a:off x="1801368" y="1892808"/>
            <a:ext cx="1307592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26" name="Technology label 1"/>
          <p:cNvSpPr txBox="1"/>
          <p:nvPr/>
        </p:nvSpPr>
        <p:spPr>
          <a:xfrm>
            <a:off x="1851660" y="2368296"/>
            <a:ext cx="1207008" cy="10332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Firestore</a:t>
            </a:r>
          </a:p>
        </p:txBody>
      </p:sp>
      <p:cxnSp>
        <p:nvCxnSpPr>
          <p:cNvPr id="127" name="Service role relationship 1"/>
          <p:cNvCxnSpPr/>
          <p:nvPr/>
        </p:nvCxnSpPr>
        <p:spPr>
          <a:xfrm>
            <a:off x="2455164" y="3493008"/>
            <a:ext cx="0" cy="27432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128" name="Technology role 1"/>
          <p:cNvSpPr txBox="1"/>
          <p:nvPr/>
        </p:nvSpPr>
        <p:spPr>
          <a:xfrm>
            <a:off x="1851660" y="3950208"/>
            <a:ext cx="1207008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3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Stores</a:t>
            </a:r>
          </a:p>
        </p:txBody>
      </p:sp>
      <p:sp>
        <p:nvSpPr>
          <p:cNvPr id="129" name="Technology chip 2"/>
          <p:cNvSpPr txBox="1"/>
          <p:nvPr/>
        </p:nvSpPr>
        <p:spPr>
          <a:xfrm>
            <a:off x="3209544" y="1892808"/>
            <a:ext cx="1307592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30" name="Technology label 2"/>
          <p:cNvSpPr txBox="1"/>
          <p:nvPr/>
        </p:nvSpPr>
        <p:spPr>
          <a:xfrm>
            <a:off x="3259836" y="2368296"/>
            <a:ext cx="1207008" cy="10332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3.5 Flash</a:t>
            </a:r>
            <a:br/>
            <a:r>
              <a:rPr lang="en-US" sz="13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(Vertex AI)</a:t>
            </a:r>
          </a:p>
        </p:txBody>
      </p:sp>
      <p:cxnSp>
        <p:nvCxnSpPr>
          <p:cNvPr id="131" name="Service role relationship 2"/>
          <p:cNvCxnSpPr/>
          <p:nvPr/>
        </p:nvCxnSpPr>
        <p:spPr>
          <a:xfrm>
            <a:off x="3863340" y="3493008"/>
            <a:ext cx="0" cy="27432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132" name="Technology role 2"/>
          <p:cNvSpPr txBox="1"/>
          <p:nvPr/>
        </p:nvSpPr>
        <p:spPr>
          <a:xfrm>
            <a:off x="3259836" y="3950208"/>
            <a:ext cx="1207008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3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Rewrites</a:t>
            </a:r>
          </a:p>
        </p:txBody>
      </p:sp>
      <p:sp>
        <p:nvSpPr>
          <p:cNvPr id="133" name="Technology chip 3"/>
          <p:cNvSpPr txBox="1"/>
          <p:nvPr/>
        </p:nvSpPr>
        <p:spPr>
          <a:xfrm>
            <a:off x="4617720" y="1892808"/>
            <a:ext cx="1307592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34" name="Technology label 3"/>
          <p:cNvSpPr txBox="1"/>
          <p:nvPr/>
        </p:nvSpPr>
        <p:spPr>
          <a:xfrm>
            <a:off x="4668012" y="2368296"/>
            <a:ext cx="1207008" cy="10332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Google ADK</a:t>
            </a:r>
          </a:p>
        </p:txBody>
      </p:sp>
      <p:cxnSp>
        <p:nvCxnSpPr>
          <p:cNvPr id="135" name="Service role relationship 3"/>
          <p:cNvCxnSpPr/>
          <p:nvPr/>
        </p:nvCxnSpPr>
        <p:spPr>
          <a:xfrm>
            <a:off x="5271516" y="3493008"/>
            <a:ext cx="0" cy="27432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136" name="Technology role 3"/>
          <p:cNvSpPr txBox="1"/>
          <p:nvPr/>
        </p:nvSpPr>
        <p:spPr>
          <a:xfrm>
            <a:off x="4668012" y="3950208"/>
            <a:ext cx="1207008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3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Orchestrates</a:t>
            </a:r>
          </a:p>
        </p:txBody>
      </p:sp>
      <p:sp>
        <p:nvSpPr>
          <p:cNvPr id="137" name="Technology chip 4"/>
          <p:cNvSpPr txBox="1"/>
          <p:nvPr/>
        </p:nvSpPr>
        <p:spPr>
          <a:xfrm>
            <a:off x="6025896" y="1892808"/>
            <a:ext cx="1307592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38" name="Technology label 4"/>
          <p:cNvSpPr txBox="1"/>
          <p:nvPr/>
        </p:nvSpPr>
        <p:spPr>
          <a:xfrm>
            <a:off x="6076188" y="2368296"/>
            <a:ext cx="1207008" cy="10332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Agent Platform</a:t>
            </a:r>
            <a:br/>
            <a:r>
              <a:rPr lang="en-US" sz="131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Sessions</a:t>
            </a:r>
          </a:p>
        </p:txBody>
      </p:sp>
      <p:cxnSp>
        <p:nvCxnSpPr>
          <p:cNvPr id="139" name="Service role relationship 4"/>
          <p:cNvCxnSpPr/>
          <p:nvPr/>
        </p:nvCxnSpPr>
        <p:spPr>
          <a:xfrm>
            <a:off x="6679692" y="3493008"/>
            <a:ext cx="0" cy="27432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140" name="Technology role 4"/>
          <p:cNvSpPr txBox="1"/>
          <p:nvPr/>
        </p:nvSpPr>
        <p:spPr>
          <a:xfrm>
            <a:off x="6076188" y="3950208"/>
            <a:ext cx="1207008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3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Remembers</a:t>
            </a:r>
          </a:p>
        </p:txBody>
      </p:sp>
      <p:sp>
        <p:nvSpPr>
          <p:cNvPr id="141" name="Technology chip 5"/>
          <p:cNvSpPr txBox="1"/>
          <p:nvPr/>
        </p:nvSpPr>
        <p:spPr>
          <a:xfrm>
            <a:off x="7434072" y="1892808"/>
            <a:ext cx="1307592" cy="26517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42" name="Technology label 5"/>
          <p:cNvSpPr txBox="1"/>
          <p:nvPr/>
        </p:nvSpPr>
        <p:spPr>
          <a:xfrm>
            <a:off x="7484364" y="2368296"/>
            <a:ext cx="1207008" cy="10332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8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Gemini image +</a:t>
            </a:r>
            <a:br/>
            <a:r>
              <a:rPr lang="en-US" sz="118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video understanding</a:t>
            </a:r>
          </a:p>
        </p:txBody>
      </p:sp>
      <p:cxnSp>
        <p:nvCxnSpPr>
          <p:cNvPr id="143" name="Service role relationship 5"/>
          <p:cNvCxnSpPr/>
          <p:nvPr/>
        </p:nvCxnSpPr>
        <p:spPr>
          <a:xfrm>
            <a:off x="8087868" y="3493008"/>
            <a:ext cx="0" cy="274320"/>
          </a:xfrm>
          <a:prstGeom prst="line">
            <a:avLst/>
          </a:prstGeom>
          <a:ln w="17000">
            <a:solidFill>
              <a:srgbClr val="5F6368"/>
            </a:solidFill>
            <a:tailEnd type="triangle"/>
          </a:ln>
        </p:spPr>
      </p:cxnSp>
      <p:sp>
        <p:nvSpPr>
          <p:cNvPr id="144" name="Technology role 5"/>
          <p:cNvSpPr txBox="1"/>
          <p:nvPr/>
        </p:nvSpPr>
        <p:spPr>
          <a:xfrm>
            <a:off x="7484364" y="3950208"/>
            <a:ext cx="1207008" cy="30175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23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Stills/reviews</a:t>
            </a:r>
          </a:p>
        </p:txBody>
      </p:sp>
      <p:sp>
        <p:nvSpPr>
          <p:cNvPr id="145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Source: README service inventory and deployed workflow.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36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See the estimate before the bill.</a:t>
            </a:r>
          </a:p>
        </p:txBody>
      </p:sp>
      <p:sp>
        <p:nvSpPr>
          <p:cNvPr id="137" name="Original output label"/>
          <p:cNvSpPr txBox="1"/>
          <p:nvPr/>
        </p:nvSpPr>
        <p:spPr>
          <a:xfrm>
            <a:off x="393192" y="1581912"/>
            <a:ext cx="4123944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Original prompt</a:t>
            </a:r>
          </a:p>
        </p:txBody>
      </p:sp>
      <p:sp>
        <p:nvSpPr>
          <p:cNvPr id="138" name="Rewrite output label"/>
          <p:cNvSpPr txBox="1"/>
          <p:nvPr/>
        </p:nvSpPr>
        <p:spPr>
          <a:xfrm>
            <a:off x="4626864" y="1581912"/>
            <a:ext cx="4123944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Rewritten prompt</a:t>
            </a:r>
          </a:p>
        </p:txBody>
      </p:sp>
      <p:pic>
        <p:nvPicPr>
          <p:cNvPr id="139" name="Actual saved original still; apparent edge retained" descr="docs/deck_assets/spoon_original.jpg"/>
          <p:cNvPicPr/>
          <p:nvPr/>
        </p:nvPicPr>
        <p:blipFill>
          <a:blip r:embed="rId9"/>
          <a:stretch>
            <a:fillRect/>
          </a:stretch>
        </p:blipFill>
        <p:spPr>
          <a:xfrm>
            <a:off x="393192" y="1810512"/>
            <a:ext cx="4123944" cy="2356539"/>
          </a:xfrm>
          <a:prstGeom prst="rect">
            <a:avLst/>
          </a:prstGeom>
        </p:spPr>
      </p:pic>
      <p:pic>
        <p:nvPicPr>
          <p:cNvPr id="140" name="Actual saved rewrite still; faithful logo-free crop" descr="docs/deck_assets/v7/spoon_rewrite_nologo_round2.jpg"/>
          <p:cNvPicPr/>
          <p:nvPr/>
        </p:nvPicPr>
        <p:blipFill>
          <a:blip r:embed="rId10"/>
          <a:stretch>
            <a:fillRect/>
          </a:stretch>
        </p:blipFill>
        <p:spPr>
          <a:xfrm>
            <a:off x="4626864" y="1810512"/>
            <a:ext cx="4123944" cy="2345867"/>
          </a:xfrm>
          <a:prstGeom prst="rect">
            <a:avLst/>
          </a:prstGeom>
        </p:spPr>
      </p:pic>
      <p:sp>
        <p:nvSpPr>
          <p:cNvPr id="141" name="Original metric"/>
          <p:cNvSpPr txBox="1"/>
          <p:nvPr/>
        </p:nvSpPr>
        <p:spPr>
          <a:xfrm>
            <a:off x="393192" y="4206240"/>
            <a:ext cx="4123944" cy="3931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30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46.8%</a:t>
            </a:r>
          </a:p>
        </p:txBody>
      </p:sp>
      <p:sp>
        <p:nvSpPr>
          <p:cNvPr id="142" name="Rewrite metric"/>
          <p:cNvSpPr txBox="1"/>
          <p:nvPr/>
        </p:nvSpPr>
        <p:spPr>
          <a:xfrm>
            <a:off x="4626864" y="4206240"/>
            <a:ext cx="4123944" cy="3931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30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15.8%</a:t>
            </a:r>
          </a:p>
        </p:txBody>
      </p:sp>
      <p:sp>
        <p:nvSpPr>
          <p:cNvPr id="143" name="Hero interpretation"/>
          <p:cNvSpPr txBox="1"/>
          <p:nvPr/>
        </p:nvSpPr>
        <p:spPr>
          <a:xfrm>
            <a:off x="393192" y="4690872"/>
            <a:ext cx="8357616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8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Uncalibrated prompt estimates. Scene changed. Saved stills cannot establish video improvement or judge motion.</a:t>
            </a:r>
          </a:p>
        </p:txBody>
      </p:sp>
      <p:sp>
        <p:nvSpPr>
          <p:cNvPr id="144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Sources: saved original and rewritten spoon/laptop outputs.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Measured, with the limits shown.</a:t>
            </a:r>
          </a:p>
        </p:txBody>
      </p:sp>
      <p:sp>
        <p:nvSpPr>
          <p:cNvPr id="145" name="Metric card 0"/>
          <p:cNvSpPr txBox="1"/>
          <p:nvPr/>
        </p:nvSpPr>
        <p:spPr>
          <a:xfrm>
            <a:off x="393192" y="1828800"/>
            <a:ext cx="2743200" cy="28803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46" name="Metric card 1"/>
          <p:cNvSpPr txBox="1"/>
          <p:nvPr/>
        </p:nvSpPr>
        <p:spPr>
          <a:xfrm>
            <a:off x="3209544" y="1828800"/>
            <a:ext cx="2743200" cy="28803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47" name="Metric card 2"/>
          <p:cNvSpPr txBox="1"/>
          <p:nvPr/>
        </p:nvSpPr>
        <p:spPr>
          <a:xfrm>
            <a:off x="6025896" y="1828800"/>
            <a:ext cx="2743200" cy="2880360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48" name="Held-out AUC"/>
          <p:cNvSpPr txBox="1"/>
          <p:nvPr/>
        </p:nvSpPr>
        <p:spPr>
          <a:xfrm>
            <a:off x="475488" y="2331720"/>
            <a:ext cx="2578608" cy="6217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43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0.67</a:t>
            </a:r>
          </a:p>
        </p:txBody>
      </p:sp>
      <p:sp>
        <p:nvSpPr>
          <p:cNvPr id="149" name="AUC label"/>
          <p:cNvSpPr txBox="1"/>
          <p:nvPr/>
        </p:nvSpPr>
        <p:spPr>
          <a:xfrm>
            <a:off x="539496" y="3346704"/>
            <a:ext cx="2450592" cy="78638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held-out historical AUC</a:t>
            </a:r>
          </a:p>
        </p:txBody>
      </p:sp>
      <p:sp>
        <p:nvSpPr>
          <p:cNvPr id="150" name="Live-image best"/>
          <p:cNvSpPr txBox="1"/>
          <p:nvPr/>
        </p:nvSpPr>
        <p:spPr>
          <a:xfrm>
            <a:off x="3291840" y="2331720"/>
            <a:ext cx="2578608" cy="6217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43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8/20</a:t>
            </a:r>
          </a:p>
        </p:txBody>
      </p:sp>
      <p:sp>
        <p:nvSpPr>
          <p:cNvPr id="151" name="Live-image definition"/>
          <p:cNvSpPr txBox="1"/>
          <p:nvPr/>
        </p:nvSpPr>
        <p:spPr>
          <a:xfrm>
            <a:off x="3355848" y="3191256"/>
            <a:ext cx="2450592" cy="13441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valid images, best probe</a:t>
            </a:r>
            <a:br/>
            <a:r>
              <a:rPr lang="en-US" sz="13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60 calls across probes</a:t>
            </a:r>
          </a:p>
        </p:txBody>
      </p:sp>
      <p:sp>
        <p:nvSpPr>
          <p:cNvPr id="152" name="Replay model calls"/>
          <p:cNvSpPr txBox="1"/>
          <p:nvPr/>
        </p:nvSpPr>
        <p:spPr>
          <a:xfrm>
            <a:off x="6108192" y="2221992"/>
            <a:ext cx="2578608" cy="43891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0 model calls</a:t>
            </a:r>
          </a:p>
        </p:txBody>
      </p:sp>
      <p:sp>
        <p:nvSpPr>
          <p:cNvPr id="153" name="Replay price"/>
          <p:cNvSpPr txBox="1"/>
          <p:nvPr/>
        </p:nvSpPr>
        <p:spPr>
          <a:xfrm>
            <a:off x="6108192" y="2816352"/>
            <a:ext cx="2578608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35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$0.00</a:t>
            </a:r>
          </a:p>
        </p:txBody>
      </p:sp>
      <p:sp>
        <p:nvSpPr>
          <p:cNvPr id="154" name="Replay label"/>
          <p:cNvSpPr txBox="1"/>
          <p:nvPr/>
        </p:nvSpPr>
        <p:spPr>
          <a:xfrm>
            <a:off x="6172200" y="3813048"/>
            <a:ext cx="2450592" cy="3931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per saved-image replay</a:t>
            </a:r>
          </a:p>
        </p:txBody>
      </p:sp>
      <p:sp>
        <p:nvSpPr>
          <p:cNvPr id="155" name="Metric caveats"/>
          <p:cNvSpPr txBox="1"/>
          <p:nvPr/>
        </p:nvSpPr>
        <p:spPr>
          <a:xfrm>
            <a:off x="393192" y="4727448"/>
            <a:ext cx="8357616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98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Risk uncalibrated. Clip accuracy unmeasured.</a:t>
            </a:r>
          </a:p>
        </p:txBody>
      </p:sp>
      <p:sp>
        <p:nvSpPr>
          <p:cNvPr id="156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Sources: held-out evaluation, live-image probes, saved-image cache receipts.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Felix builds. Sidhant: 10 QA points, 6 fixes.</a:t>
            </a:r>
          </a:p>
        </p:txBody>
      </p:sp>
      <p:sp>
        <p:nvSpPr>
          <p:cNvPr id="153" name="Felix initials card"/>
          <p:cNvSpPr txBox="1"/>
          <p:nvPr/>
        </p:nvSpPr>
        <p:spPr>
          <a:xfrm>
            <a:off x="393192" y="1618488"/>
            <a:ext cx="4123944" cy="33832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54" name="Sidhant initials and QA card"/>
          <p:cNvSpPr txBox="1"/>
          <p:nvPr/>
        </p:nvSpPr>
        <p:spPr>
          <a:xfrm>
            <a:off x="4626864" y="1618488"/>
            <a:ext cx="4123944" cy="338328"/>
          </a:xfrm>
          <a:prstGeom prst="rect">
            <a:avLst/>
          </a:prstGeom>
          <a:solidFill>
            <a:srgbClr val="F8F9FA"/>
          </a:solidFill>
          <a:ln w="12700">
            <a:solidFill>
              <a:srgbClr val="BDC1C6"/>
            </a:solidFill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/>
            </a:r>
          </a:p>
        </p:txBody>
      </p:sp>
      <p:sp>
        <p:nvSpPr>
          <p:cNvPr id="155" name="Felix initial"/>
          <p:cNvSpPr txBox="1"/>
          <p:nvPr/>
        </p:nvSpPr>
        <p:spPr>
          <a:xfrm>
            <a:off x="429768" y="1636776"/>
            <a:ext cx="237744" cy="26517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</a:t>
            </a:r>
          </a:p>
        </p:txBody>
      </p:sp>
      <p:sp>
        <p:nvSpPr>
          <p:cNvPr id="156" name="Felix provenance"/>
          <p:cNvSpPr txBox="1"/>
          <p:nvPr/>
        </p:nvSpPr>
        <p:spPr>
          <a:xfrm>
            <a:off x="758952" y="1655064"/>
            <a:ext cx="3694176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12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IRT preprints, 2.5 years</a:t>
            </a:r>
          </a:p>
        </p:txBody>
      </p:sp>
      <p:sp>
        <p:nvSpPr>
          <p:cNvPr id="157" name="Sidhant initial"/>
          <p:cNvSpPr txBox="1"/>
          <p:nvPr/>
        </p:nvSpPr>
        <p:spPr>
          <a:xfrm>
            <a:off x="4663440" y="1636776"/>
            <a:ext cx="237744" cy="26517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ctr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</a:t>
            </a:r>
          </a:p>
        </p:txBody>
      </p:sp>
      <p:sp>
        <p:nvSpPr>
          <p:cNvPr id="158" name="Sidhant shipped label"/>
          <p:cNvSpPr txBox="1"/>
          <p:nvPr/>
        </p:nvSpPr>
        <p:spPr>
          <a:xfrm>
            <a:off x="4965192" y="1655064"/>
            <a:ext cx="594360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8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shipped</a:t>
            </a:r>
          </a:p>
        </p:txBody>
      </p:sp>
      <p:sp>
        <p:nvSpPr>
          <p:cNvPr id="159" name="Logged QA counts"/>
          <p:cNvSpPr txBox="1"/>
          <p:nvPr/>
        </p:nvSpPr>
        <p:spPr>
          <a:xfrm>
            <a:off x="5641848" y="1655064"/>
            <a:ext cx="3072384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4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Objects 30 → 18. Colours 23 → 7.</a:t>
            </a:r>
          </a:p>
        </p:txBody>
      </p:sp>
      <p:sp>
        <p:nvSpPr>
          <p:cNvPr id="160" name="Earlier label"/>
          <p:cNvSpPr txBox="1"/>
          <p:nvPr/>
        </p:nvSpPr>
        <p:spPr>
          <a:xfrm>
            <a:off x="393192" y="2039112"/>
            <a:ext cx="4123944" cy="19202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Earlier interface</a:t>
            </a:r>
          </a:p>
        </p:txBody>
      </p:sp>
      <p:sp>
        <p:nvSpPr>
          <p:cNvPr id="161" name="After label"/>
          <p:cNvSpPr txBox="1"/>
          <p:nvPr/>
        </p:nvSpPr>
        <p:spPr>
          <a:xfrm>
            <a:off x="4626864" y="2039112"/>
            <a:ext cx="4123944" cy="192024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After teammate QA</a:t>
            </a:r>
          </a:p>
        </p:txBody>
      </p:sp>
      <p:pic>
        <p:nvPicPr>
          <p:cNvPr id="162" name="Genuine earlier checked-state header crop" descr="docs/deck_assets/v7/earlier_header_large_round2.jpg"/>
          <p:cNvPicPr/>
          <p:nvPr/>
        </p:nvPicPr>
        <p:blipFill>
          <a:blip r:embed="rId5"/>
          <a:stretch>
            <a:fillRect/>
          </a:stretch>
        </p:blipFill>
        <p:spPr>
          <a:xfrm>
            <a:off x="393192" y="2267712"/>
            <a:ext cx="4123944" cy="2336902"/>
          </a:xfrm>
          <a:prstGeom prst="rect">
            <a:avLst/>
          </a:prstGeom>
        </p:spPr>
      </p:pic>
      <p:pic>
        <p:nvPicPr>
          <p:cNvPr id="163" name="Genuine current initial-screen header crop" descr="docs/deck_assets/v7/current_header_large_round2.jpg"/>
          <p:cNvPicPr/>
          <p:nvPr/>
        </p:nvPicPr>
        <p:blipFill>
          <a:blip r:embed="rId6"/>
          <a:stretch>
            <a:fillRect/>
          </a:stretch>
        </p:blipFill>
        <p:spPr>
          <a:xfrm>
            <a:off x="4626864" y="2267712"/>
            <a:ext cx="4123944" cy="2336902"/>
          </a:xfrm>
          <a:prstGeom prst="rect">
            <a:avLst/>
          </a:prstGeom>
        </p:spPr>
      </p:pic>
      <p:sp>
        <p:nvSpPr>
          <p:cNvPr id="164" name="Next steps"/>
          <p:cNvSpPr txBox="1"/>
          <p:nvPr/>
        </p:nvSpPr>
        <p:spPr>
          <a:xfrm>
            <a:off x="393192" y="4718304"/>
            <a:ext cx="8357616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0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Next: live stills, tabs, non-English.</a:t>
            </a:r>
          </a:p>
        </p:txBody>
      </p:sp>
      <p:sp>
        <p:nvSpPr>
          <p:cNvPr id="165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Sources: teammate QA, first-viewport audit, archival header captures.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Submission links"/>
          <p:cNvSpPr txBox="1"/>
          <p:nvPr/>
        </p:nvSpPr>
        <p:spPr>
          <a:xfrm>
            <a:off x="393192" y="1325880"/>
            <a:ext cx="8302752" cy="347472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GitHub Public Repository</a:t>
            </a:r>
          </a:p>
          <a:p>
            <a:pPr algn="l" marL="0" indent="0">
              <a:lnSpc>
                <a:spcPct val="108000"/>
              </a:lnSpc>
              <a:spcAft>
                <a:spcPts val="22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7"/>
              </a:rPr>
              <a:t>https://github.com/testofschool/preflight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Demo Video Link (3 Minutes)</a:t>
            </a:r>
          </a:p>
          <a:p>
            <a:pPr algn="l" marL="0" indent="0">
              <a:lnSpc>
                <a:spcPct val="108000"/>
              </a:lnSpc>
              <a:spcAft>
                <a:spcPts val="2200"/>
              </a:spcAft>
              <a:buNone/>
            </a:pPr>
            <a:r>
              <a:rPr lang="en-US" sz="15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Pending public upload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6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Final Product Link</a:t>
            </a:r>
          </a:p>
          <a:p>
            <a:pPr algn="l" marL="0" indent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8"/>
              </a:rPr>
              <a:t>https://preflight-jcgro45veq-as.a.run.app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Point–Reason–Example–Point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V7 headline"/>
          <p:cNvSpPr txBox="1"/>
          <p:nvPr/>
        </p:nvSpPr>
        <p:spPr>
          <a:xfrm>
            <a:off x="393192" y="1106424"/>
            <a:ext cx="8357616" cy="42976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220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Check before you pay.</a:t>
            </a:r>
          </a:p>
        </p:txBody>
      </p:sp>
      <p:pic>
        <p:nvPicPr>
          <p:cNvPr id="73" name="Concept photo: before the shot" descr="docs/deck_assets/v7/concept_before_shot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2962656" y="1609344"/>
            <a:ext cx="5897880" cy="3337560"/>
          </a:xfrm>
          <a:prstGeom prst="rect">
            <a:avLst/>
          </a:prstGeom>
        </p:spPr>
      </p:pic>
      <p:sp>
        <p:nvSpPr>
          <p:cNvPr id="74" name="Reason"/>
          <p:cNvSpPr txBox="1"/>
          <p:nvPr/>
        </p:nvSpPr>
        <p:spPr>
          <a:xfrm>
            <a:off x="393192" y="1764792"/>
            <a:ext cx="2377440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Generators bill attempts. Refunds skip unusable clips.</a:t>
            </a:r>
          </a:p>
        </p:txBody>
      </p:sp>
      <p:sp>
        <p:nvSpPr>
          <p:cNvPr id="75" name="Example"/>
          <p:cNvSpPr txBox="1"/>
          <p:nvPr/>
        </p:nvSpPr>
        <p:spPr>
          <a:xfrm>
            <a:off x="393192" y="2944368"/>
            <a:ext cx="2377440" cy="1069848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5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Uncalibrated spoon/laptop estimate: 46.8% → 15.8%, saved still before $3.20 video.</a:t>
            </a:r>
          </a:p>
        </p:txBody>
      </p:sp>
      <p:sp>
        <p:nvSpPr>
          <p:cNvPr id="76" name="Closing point"/>
          <p:cNvSpPr txBox="1"/>
          <p:nvPr/>
        </p:nvSpPr>
        <p:spPr>
          <a:xfrm>
            <a:off x="393192" y="4288536"/>
            <a:ext cx="2377440" cy="57607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27432" rIns="27432" tIns="27432" bIns="27432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620" b="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Preflight: check before you pay.</a:t>
            </a:r>
          </a:p>
        </p:txBody>
      </p:sp>
      <p:sp>
        <p:nvSpPr>
          <p:cNvPr id="77" name="V7 source line"/>
          <p:cNvSpPr txBox="1"/>
          <p:nvPr/>
        </p:nvSpPr>
        <p:spPr>
          <a:xfrm>
            <a:off x="393192" y="4910328"/>
            <a:ext cx="8357616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t" lIns="0" rIns="0" tIns="0" bIns="0">
            <a:noAutofit/>
          </a:bodyPr>
          <a:lstStyle/>
          <a:p>
            <a:pPr algn="l" marL="0" indent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76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Sources: Runway refund policy, saved spoon/laptop example; conceptual photograph.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